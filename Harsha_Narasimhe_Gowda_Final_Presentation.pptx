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Arimo Bold" charset="1" panose="020B0704020202020204"/>
      <p:regular r:id="rId20"/>
    </p:embeddedFont>
    <p:embeddedFont>
      <p:font typeface="Anton" charset="1" panose="00000500000000000000"/>
      <p:regular r:id="rId21"/>
    </p:embeddedFont>
    <p:embeddedFont>
      <p:font typeface="Arimo" charset="1" panose="020B060402020202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333" t="0" r="-33333" b="0"/>
            </a:stretch>
          </a:blipFill>
        </p:spPr>
      </p:sp>
      <p:grpSp>
        <p:nvGrpSpPr>
          <p:cNvPr name="Group 3" id="3"/>
          <p:cNvGrpSpPr/>
          <p:nvPr/>
        </p:nvGrpSpPr>
        <p:grpSpPr>
          <a:xfrm rot="0">
            <a:off x="8603969" y="1457027"/>
            <a:ext cx="9684031" cy="6103230"/>
            <a:chOff x="0" y="0"/>
            <a:chExt cx="1013454" cy="638716"/>
          </a:xfrm>
        </p:grpSpPr>
        <p:sp>
          <p:nvSpPr>
            <p:cNvPr name="Freeform 4" id="4"/>
            <p:cNvSpPr/>
            <p:nvPr/>
          </p:nvSpPr>
          <p:spPr>
            <a:xfrm flipH="false" flipV="false" rot="0">
              <a:off x="0" y="0"/>
              <a:ext cx="1013454" cy="638716"/>
            </a:xfrm>
            <a:custGeom>
              <a:avLst/>
              <a:gdLst/>
              <a:ahLst/>
              <a:cxnLst/>
              <a:rect r="r" b="b" t="t" l="l"/>
              <a:pathLst>
                <a:path h="638716" w="1013454">
                  <a:moveTo>
                    <a:pt x="0" y="0"/>
                  </a:moveTo>
                  <a:lnTo>
                    <a:pt x="1013454" y="0"/>
                  </a:lnTo>
                  <a:lnTo>
                    <a:pt x="1013454" y="638716"/>
                  </a:lnTo>
                  <a:lnTo>
                    <a:pt x="0" y="638716"/>
                  </a:lnTo>
                  <a:close/>
                </a:path>
              </a:pathLst>
            </a:custGeom>
            <a:blipFill>
              <a:blip r:embed="rId3"/>
              <a:stretch>
                <a:fillRect l="-6021" t="0" r="-6021" b="0"/>
              </a:stretch>
            </a:blipFill>
          </p:spPr>
        </p:sp>
      </p:grpSp>
      <p:sp>
        <p:nvSpPr>
          <p:cNvPr name="TextBox 5" id="5"/>
          <p:cNvSpPr txBox="true"/>
          <p:nvPr/>
        </p:nvSpPr>
        <p:spPr>
          <a:xfrm rot="0">
            <a:off x="1028700" y="6622486"/>
            <a:ext cx="7772152" cy="937771"/>
          </a:xfrm>
          <a:prstGeom prst="rect">
            <a:avLst/>
          </a:prstGeom>
        </p:spPr>
        <p:txBody>
          <a:bodyPr anchor="t" rtlCol="false" tIns="0" lIns="0" bIns="0" rIns="0">
            <a:spAutoFit/>
          </a:bodyPr>
          <a:lstStyle/>
          <a:p>
            <a:pPr algn="l">
              <a:lnSpc>
                <a:spcPts val="3584"/>
              </a:lnSpc>
            </a:pPr>
            <a:r>
              <a:rPr lang="en-US" b="true" sz="3983" spc="462">
                <a:solidFill>
                  <a:srgbClr val="000000"/>
                </a:solidFill>
                <a:latin typeface="Arimo Bold"/>
                <a:ea typeface="Arimo Bold"/>
                <a:cs typeface="Arimo Bold"/>
                <a:sym typeface="Arimo Bold"/>
              </a:rPr>
              <a:t>PHENOMENAL 23/24 SEASON</a:t>
            </a:r>
          </a:p>
        </p:txBody>
      </p:sp>
      <p:sp>
        <p:nvSpPr>
          <p:cNvPr name="TextBox 6" id="6"/>
          <p:cNvSpPr txBox="true"/>
          <p:nvPr/>
        </p:nvSpPr>
        <p:spPr>
          <a:xfrm rot="0">
            <a:off x="1028700" y="8759190"/>
            <a:ext cx="4386324" cy="499110"/>
          </a:xfrm>
          <a:prstGeom prst="rect">
            <a:avLst/>
          </a:prstGeom>
        </p:spPr>
        <p:txBody>
          <a:bodyPr anchor="t" rtlCol="false" tIns="0" lIns="0" bIns="0" rIns="0">
            <a:spAutoFit/>
          </a:bodyPr>
          <a:lstStyle/>
          <a:p>
            <a:pPr algn="l">
              <a:lnSpc>
                <a:spcPts val="1890"/>
              </a:lnSpc>
            </a:pPr>
            <a:r>
              <a:rPr lang="en-US" sz="2100" b="true">
                <a:solidFill>
                  <a:srgbClr val="000000"/>
                </a:solidFill>
                <a:latin typeface="Arimo Bold"/>
                <a:ea typeface="Arimo Bold"/>
                <a:cs typeface="Arimo Bold"/>
                <a:sym typeface="Arimo Bold"/>
              </a:rPr>
              <a:t>PRESENTED BY </a:t>
            </a:r>
          </a:p>
          <a:p>
            <a:pPr algn="l">
              <a:lnSpc>
                <a:spcPts val="1890"/>
              </a:lnSpc>
            </a:pPr>
            <a:r>
              <a:rPr lang="en-US" sz="2100" b="true">
                <a:solidFill>
                  <a:srgbClr val="000000"/>
                </a:solidFill>
                <a:latin typeface="Arimo Bold"/>
                <a:ea typeface="Arimo Bold"/>
                <a:cs typeface="Arimo Bold"/>
                <a:sym typeface="Arimo Bold"/>
              </a:rPr>
              <a:t>HARSHA NARASIMHE GOWDA</a:t>
            </a:r>
          </a:p>
        </p:txBody>
      </p:sp>
      <p:sp>
        <p:nvSpPr>
          <p:cNvPr name="TextBox 7" id="7"/>
          <p:cNvSpPr txBox="true"/>
          <p:nvPr/>
        </p:nvSpPr>
        <p:spPr>
          <a:xfrm rot="0">
            <a:off x="1028700" y="2904492"/>
            <a:ext cx="4516704" cy="1941998"/>
          </a:xfrm>
          <a:prstGeom prst="rect">
            <a:avLst/>
          </a:prstGeom>
        </p:spPr>
        <p:txBody>
          <a:bodyPr anchor="t" rtlCol="false" tIns="0" lIns="0" bIns="0" rIns="0">
            <a:spAutoFit/>
          </a:bodyPr>
          <a:lstStyle/>
          <a:p>
            <a:pPr algn="l">
              <a:lnSpc>
                <a:spcPts val="15922"/>
              </a:lnSpc>
              <a:spcBef>
                <a:spcPct val="0"/>
              </a:spcBef>
            </a:pPr>
            <a:r>
              <a:rPr lang="en-US" sz="11372">
                <a:solidFill>
                  <a:srgbClr val="2A441A"/>
                </a:solidFill>
                <a:latin typeface="Anton"/>
                <a:ea typeface="Anton"/>
                <a:cs typeface="Anton"/>
                <a:sym typeface="Anton"/>
              </a:rPr>
              <a:t>BAYERN</a:t>
            </a:r>
          </a:p>
        </p:txBody>
      </p:sp>
      <p:sp>
        <p:nvSpPr>
          <p:cNvPr name="TextBox 8" id="8"/>
          <p:cNvSpPr txBox="true"/>
          <p:nvPr/>
        </p:nvSpPr>
        <p:spPr>
          <a:xfrm rot="0">
            <a:off x="1028700" y="4627415"/>
            <a:ext cx="7977569" cy="1941998"/>
          </a:xfrm>
          <a:prstGeom prst="rect">
            <a:avLst/>
          </a:prstGeom>
        </p:spPr>
        <p:txBody>
          <a:bodyPr anchor="t" rtlCol="false" tIns="0" lIns="0" bIns="0" rIns="0">
            <a:spAutoFit/>
          </a:bodyPr>
          <a:lstStyle/>
          <a:p>
            <a:pPr algn="l">
              <a:lnSpc>
                <a:spcPts val="15922"/>
              </a:lnSpc>
              <a:spcBef>
                <a:spcPct val="0"/>
              </a:spcBef>
            </a:pPr>
            <a:r>
              <a:rPr lang="en-US" sz="11372">
                <a:solidFill>
                  <a:srgbClr val="000000"/>
                </a:solidFill>
                <a:latin typeface="Anton"/>
                <a:ea typeface="Anton"/>
                <a:cs typeface="Anton"/>
                <a:sym typeface="Anton"/>
              </a:rPr>
              <a:t>LEVERKUSEN’S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333" t="0" r="-33333" b="0"/>
            </a:stretch>
          </a:blipFill>
        </p:spPr>
      </p:sp>
      <p:grpSp>
        <p:nvGrpSpPr>
          <p:cNvPr name="Group 3" id="3"/>
          <p:cNvGrpSpPr/>
          <p:nvPr/>
        </p:nvGrpSpPr>
        <p:grpSpPr>
          <a:xfrm rot="0">
            <a:off x="8159583" y="1329666"/>
            <a:ext cx="9961597" cy="7332342"/>
            <a:chOff x="0" y="0"/>
            <a:chExt cx="1042502" cy="767345"/>
          </a:xfrm>
        </p:grpSpPr>
        <p:sp>
          <p:nvSpPr>
            <p:cNvPr name="Freeform 4" id="4"/>
            <p:cNvSpPr/>
            <p:nvPr/>
          </p:nvSpPr>
          <p:spPr>
            <a:xfrm flipH="false" flipV="false" rot="0">
              <a:off x="0" y="0"/>
              <a:ext cx="1042502" cy="767345"/>
            </a:xfrm>
            <a:custGeom>
              <a:avLst/>
              <a:gdLst/>
              <a:ahLst/>
              <a:cxnLst/>
              <a:rect r="r" b="b" t="t" l="l"/>
              <a:pathLst>
                <a:path h="767345" w="1042502">
                  <a:moveTo>
                    <a:pt x="0" y="0"/>
                  </a:moveTo>
                  <a:lnTo>
                    <a:pt x="1042502" y="0"/>
                  </a:lnTo>
                  <a:lnTo>
                    <a:pt x="1042502" y="767345"/>
                  </a:lnTo>
                  <a:lnTo>
                    <a:pt x="0" y="767345"/>
                  </a:lnTo>
                  <a:close/>
                </a:path>
              </a:pathLst>
            </a:custGeom>
            <a:blipFill>
              <a:blip r:embed="rId3"/>
              <a:stretch>
                <a:fillRect l="-5239" t="0" r="-5239" b="0"/>
              </a:stretch>
            </a:blipFill>
          </p:spPr>
        </p:sp>
      </p:grpSp>
      <p:sp>
        <p:nvSpPr>
          <p:cNvPr name="TextBox 5" id="5"/>
          <p:cNvSpPr txBox="true"/>
          <p:nvPr/>
        </p:nvSpPr>
        <p:spPr>
          <a:xfrm rot="0">
            <a:off x="279981" y="3541476"/>
            <a:ext cx="7511377" cy="3116091"/>
          </a:xfrm>
          <a:prstGeom prst="rect">
            <a:avLst/>
          </a:prstGeom>
        </p:spPr>
        <p:txBody>
          <a:bodyPr anchor="t" rtlCol="false" tIns="0" lIns="0" bIns="0" rIns="0">
            <a:spAutoFit/>
          </a:bodyPr>
          <a:lstStyle/>
          <a:p>
            <a:pPr algn="just">
              <a:lnSpc>
                <a:spcPts val="3577"/>
              </a:lnSpc>
            </a:pPr>
            <a:r>
              <a:rPr lang="en-US" sz="2555">
                <a:solidFill>
                  <a:srgbClr val="000000"/>
                </a:solidFill>
                <a:latin typeface="Arimo"/>
                <a:ea typeface="Arimo"/>
                <a:cs typeface="Arimo"/>
                <a:sym typeface="Arimo"/>
              </a:rPr>
              <a:t>Bayern Leverkusen, under Xabi Alonso won the BundesLiga title in 2024 against all odds. Being a mid-table team, let’s analyse how they shot up to the top spot .</a:t>
            </a:r>
          </a:p>
          <a:p>
            <a:pPr algn="just">
              <a:lnSpc>
                <a:spcPts val="3577"/>
              </a:lnSpc>
            </a:pPr>
          </a:p>
          <a:p>
            <a:pPr algn="just">
              <a:lnSpc>
                <a:spcPts val="3577"/>
              </a:lnSpc>
            </a:pPr>
            <a:r>
              <a:rPr lang="en-US" sz="2555">
                <a:solidFill>
                  <a:srgbClr val="000000"/>
                </a:solidFill>
                <a:latin typeface="Arimo"/>
                <a:ea typeface="Arimo"/>
                <a:cs typeface="Arimo"/>
                <a:sym typeface="Arimo"/>
              </a:rPr>
              <a:t>We have used data from Statsbomb which describes all the events that happened in matches.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333" t="0" r="-33333" b="0"/>
            </a:stretch>
          </a:blipFill>
        </p:spPr>
      </p:sp>
      <p:grpSp>
        <p:nvGrpSpPr>
          <p:cNvPr name="Group 3" id="3"/>
          <p:cNvGrpSpPr/>
          <p:nvPr/>
        </p:nvGrpSpPr>
        <p:grpSpPr>
          <a:xfrm rot="0">
            <a:off x="1028700" y="4051971"/>
            <a:ext cx="10185590" cy="5206329"/>
            <a:chOff x="0" y="0"/>
            <a:chExt cx="1065944" cy="544853"/>
          </a:xfrm>
        </p:grpSpPr>
        <p:sp>
          <p:nvSpPr>
            <p:cNvPr name="Freeform 4" id="4"/>
            <p:cNvSpPr/>
            <p:nvPr/>
          </p:nvSpPr>
          <p:spPr>
            <a:xfrm flipH="false" flipV="false" rot="0">
              <a:off x="0" y="0"/>
              <a:ext cx="1065944" cy="544853"/>
            </a:xfrm>
            <a:custGeom>
              <a:avLst/>
              <a:gdLst/>
              <a:ahLst/>
              <a:cxnLst/>
              <a:rect r="r" b="b" t="t" l="l"/>
              <a:pathLst>
                <a:path h="544853" w="1065944">
                  <a:moveTo>
                    <a:pt x="0" y="0"/>
                  </a:moveTo>
                  <a:lnTo>
                    <a:pt x="1065944" y="0"/>
                  </a:lnTo>
                  <a:lnTo>
                    <a:pt x="1065944" y="544853"/>
                  </a:lnTo>
                  <a:lnTo>
                    <a:pt x="0" y="544853"/>
                  </a:lnTo>
                  <a:close/>
                </a:path>
              </a:pathLst>
            </a:custGeom>
            <a:blipFill>
              <a:blip r:embed="rId3"/>
              <a:stretch>
                <a:fillRect l="0" t="-21285" r="0" b="-21285"/>
              </a:stretch>
            </a:blipFill>
          </p:spPr>
        </p:sp>
      </p:grpSp>
      <p:sp>
        <p:nvSpPr>
          <p:cNvPr name="TextBox 5" id="5"/>
          <p:cNvSpPr txBox="true"/>
          <p:nvPr/>
        </p:nvSpPr>
        <p:spPr>
          <a:xfrm rot="0">
            <a:off x="11430906" y="4529543"/>
            <a:ext cx="6045010" cy="2105529"/>
          </a:xfrm>
          <a:prstGeom prst="rect">
            <a:avLst/>
          </a:prstGeom>
        </p:spPr>
        <p:txBody>
          <a:bodyPr anchor="t" rtlCol="false" tIns="0" lIns="0" bIns="0" rIns="0">
            <a:spAutoFit/>
          </a:bodyPr>
          <a:lstStyle/>
          <a:p>
            <a:pPr algn="just">
              <a:lnSpc>
                <a:spcPts val="3382"/>
              </a:lnSpc>
            </a:pPr>
            <a:r>
              <a:rPr lang="en-US" sz="2416">
                <a:solidFill>
                  <a:srgbClr val="000000"/>
                </a:solidFill>
                <a:latin typeface="Arimo"/>
                <a:ea typeface="Arimo"/>
                <a:cs typeface="Arimo"/>
                <a:sym typeface="Arimo"/>
              </a:rPr>
              <a:t>Most of the goals have been scored from inside the D. This could tell us that the team relied more upon short passes and cool finishes inside the D, or there could have been crosses coming in from both sides</a:t>
            </a:r>
          </a:p>
        </p:txBody>
      </p:sp>
      <p:sp>
        <p:nvSpPr>
          <p:cNvPr name="TextBox 6" id="6"/>
          <p:cNvSpPr txBox="true"/>
          <p:nvPr/>
        </p:nvSpPr>
        <p:spPr>
          <a:xfrm rot="0">
            <a:off x="11667978" y="5267303"/>
            <a:ext cx="634507" cy="260985"/>
          </a:xfrm>
          <a:prstGeom prst="rect">
            <a:avLst/>
          </a:prstGeom>
        </p:spPr>
        <p:txBody>
          <a:bodyPr anchor="t" rtlCol="false" tIns="0" lIns="0" bIns="0" rIns="0">
            <a:spAutoFit/>
          </a:bodyPr>
          <a:lstStyle/>
          <a:p>
            <a:pPr algn="ctr">
              <a:lnSpc>
                <a:spcPts val="1890"/>
              </a:lnSpc>
            </a:pPr>
            <a:r>
              <a:rPr lang="en-US" b="true" sz="2100">
                <a:solidFill>
                  <a:srgbClr val="FFFFFF"/>
                </a:solidFill>
                <a:latin typeface="Arimo Bold"/>
                <a:ea typeface="Arimo Bold"/>
                <a:cs typeface="Arimo Bold"/>
                <a:sym typeface="Arimo Bold"/>
              </a:rPr>
              <a:t>01</a:t>
            </a:r>
          </a:p>
        </p:txBody>
      </p:sp>
      <p:sp>
        <p:nvSpPr>
          <p:cNvPr name="TextBox 7" id="7"/>
          <p:cNvSpPr txBox="true"/>
          <p:nvPr/>
        </p:nvSpPr>
        <p:spPr>
          <a:xfrm rot="0">
            <a:off x="11667978" y="8602057"/>
            <a:ext cx="634507" cy="260985"/>
          </a:xfrm>
          <a:prstGeom prst="rect">
            <a:avLst/>
          </a:prstGeom>
        </p:spPr>
        <p:txBody>
          <a:bodyPr anchor="t" rtlCol="false" tIns="0" lIns="0" bIns="0" rIns="0">
            <a:spAutoFit/>
          </a:bodyPr>
          <a:lstStyle/>
          <a:p>
            <a:pPr algn="ctr">
              <a:lnSpc>
                <a:spcPts val="1890"/>
              </a:lnSpc>
            </a:pPr>
            <a:r>
              <a:rPr lang="en-US" b="true" sz="2100">
                <a:solidFill>
                  <a:srgbClr val="FFFFFF"/>
                </a:solidFill>
                <a:latin typeface="Arimo Bold"/>
                <a:ea typeface="Arimo Bold"/>
                <a:cs typeface="Arimo Bold"/>
                <a:sym typeface="Arimo Bold"/>
              </a:rPr>
              <a:t>03</a:t>
            </a:r>
          </a:p>
        </p:txBody>
      </p:sp>
      <p:grpSp>
        <p:nvGrpSpPr>
          <p:cNvPr name="Group 8" id="8"/>
          <p:cNvGrpSpPr/>
          <p:nvPr/>
        </p:nvGrpSpPr>
        <p:grpSpPr>
          <a:xfrm rot="0">
            <a:off x="510715" y="418788"/>
            <a:ext cx="8261728" cy="5877917"/>
            <a:chOff x="0" y="0"/>
            <a:chExt cx="11015638" cy="7837223"/>
          </a:xfrm>
        </p:grpSpPr>
        <p:sp>
          <p:nvSpPr>
            <p:cNvPr name="TextBox 9" id="9"/>
            <p:cNvSpPr txBox="true"/>
            <p:nvPr/>
          </p:nvSpPr>
          <p:spPr>
            <a:xfrm rot="0">
              <a:off x="0" y="-123825"/>
              <a:ext cx="8313070" cy="6536874"/>
            </a:xfrm>
            <a:prstGeom prst="rect">
              <a:avLst/>
            </a:prstGeom>
          </p:spPr>
          <p:txBody>
            <a:bodyPr anchor="t" rtlCol="false" tIns="0" lIns="0" bIns="0" rIns="0">
              <a:spAutoFit/>
            </a:bodyPr>
            <a:lstStyle/>
            <a:p>
              <a:pPr algn="l">
                <a:lnSpc>
                  <a:spcPts val="9870"/>
                </a:lnSpc>
              </a:pPr>
              <a:r>
                <a:rPr lang="en-US" sz="7050">
                  <a:solidFill>
                    <a:srgbClr val="2A441A"/>
                  </a:solidFill>
                  <a:latin typeface="Anton"/>
                  <a:ea typeface="Anton"/>
                  <a:cs typeface="Anton"/>
                  <a:sym typeface="Anton"/>
                </a:rPr>
                <a:t>WHAT ARE THE TOP SCORING ZONES ON THE PITCH?</a:t>
              </a:r>
            </a:p>
            <a:p>
              <a:pPr algn="l">
                <a:lnSpc>
                  <a:spcPts val="9870"/>
                </a:lnSpc>
                <a:spcBef>
                  <a:spcPct val="0"/>
                </a:spcBef>
              </a:pPr>
            </a:p>
          </p:txBody>
        </p:sp>
        <p:sp>
          <p:nvSpPr>
            <p:cNvPr name="TextBox 10" id="10"/>
            <p:cNvSpPr txBox="true"/>
            <p:nvPr/>
          </p:nvSpPr>
          <p:spPr>
            <a:xfrm rot="0">
              <a:off x="0" y="6289224"/>
              <a:ext cx="11015638" cy="1547999"/>
            </a:xfrm>
            <a:prstGeom prst="rect">
              <a:avLst/>
            </a:prstGeom>
          </p:spPr>
          <p:txBody>
            <a:bodyPr anchor="t" rtlCol="false" tIns="0" lIns="0" bIns="0" rIns="0">
              <a:spAutoFit/>
            </a:bodyPr>
            <a:lstStyle/>
            <a:p>
              <a:pPr algn="l">
                <a:lnSpc>
                  <a:spcPts val="9870"/>
                </a:lnSpc>
                <a:spcBef>
                  <a:spcPct val="0"/>
                </a:spcBef>
              </a:pPr>
            </a:p>
          </p:txBody>
        </p:sp>
      </p:grpSp>
      <p:sp>
        <p:nvSpPr>
          <p:cNvPr name="TextBox 11" id="11"/>
          <p:cNvSpPr txBox="true"/>
          <p:nvPr/>
        </p:nvSpPr>
        <p:spPr>
          <a:xfrm rot="0">
            <a:off x="7915954" y="1736414"/>
            <a:ext cx="7029904" cy="325755"/>
          </a:xfrm>
          <a:prstGeom prst="rect">
            <a:avLst/>
          </a:prstGeom>
        </p:spPr>
        <p:txBody>
          <a:bodyPr anchor="t" rtlCol="false" tIns="0" lIns="0" bIns="0" rIns="0">
            <a:spAutoFit/>
          </a:bodyPr>
          <a:lstStyle/>
          <a:p>
            <a:pPr algn="just">
              <a:lnSpc>
                <a:spcPts val="2520"/>
              </a:lnSpc>
            </a:pPr>
            <a:r>
              <a:rPr lang="en-US" sz="1800">
                <a:solidFill>
                  <a:srgbClr val="000000"/>
                </a:solidFill>
                <a:latin typeface="Arimo"/>
                <a:ea typeface="Arimo"/>
                <a:cs typeface="Arimo"/>
                <a:sym typeface="Arimo"/>
              </a:rPr>
              <a:t>Let’s look at the top-scoring zones where Leverkusen scored most.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333" t="0" r="-33333" b="0"/>
            </a:stretch>
          </a:blipFill>
        </p:spPr>
      </p:sp>
      <p:grpSp>
        <p:nvGrpSpPr>
          <p:cNvPr name="Group 3" id="3"/>
          <p:cNvGrpSpPr/>
          <p:nvPr/>
        </p:nvGrpSpPr>
        <p:grpSpPr>
          <a:xfrm rot="0">
            <a:off x="1028700" y="877500"/>
            <a:ext cx="11269495" cy="8380800"/>
            <a:chOff x="0" y="0"/>
            <a:chExt cx="1745940" cy="1298405"/>
          </a:xfrm>
        </p:grpSpPr>
        <p:sp>
          <p:nvSpPr>
            <p:cNvPr name="Freeform 4" id="4"/>
            <p:cNvSpPr/>
            <p:nvPr/>
          </p:nvSpPr>
          <p:spPr>
            <a:xfrm flipH="false" flipV="false" rot="0">
              <a:off x="0" y="0"/>
              <a:ext cx="1745940" cy="1298405"/>
            </a:xfrm>
            <a:custGeom>
              <a:avLst/>
              <a:gdLst/>
              <a:ahLst/>
              <a:cxnLst/>
              <a:rect r="r" b="b" t="t" l="l"/>
              <a:pathLst>
                <a:path h="1298405" w="1745940">
                  <a:moveTo>
                    <a:pt x="0" y="0"/>
                  </a:moveTo>
                  <a:lnTo>
                    <a:pt x="1745940" y="0"/>
                  </a:lnTo>
                  <a:lnTo>
                    <a:pt x="1745940" y="1298405"/>
                  </a:lnTo>
                  <a:lnTo>
                    <a:pt x="0" y="1298405"/>
                  </a:lnTo>
                  <a:close/>
                </a:path>
              </a:pathLst>
            </a:custGeom>
            <a:blipFill>
              <a:blip r:embed="rId3"/>
              <a:stretch>
                <a:fillRect l="-248" t="0" r="-248" b="0"/>
              </a:stretch>
            </a:blipFill>
          </p:spPr>
        </p:sp>
      </p:grpSp>
      <p:sp>
        <p:nvSpPr>
          <p:cNvPr name="TextBox 5" id="5"/>
          <p:cNvSpPr txBox="true"/>
          <p:nvPr/>
        </p:nvSpPr>
        <p:spPr>
          <a:xfrm rot="0">
            <a:off x="12298195" y="6368681"/>
            <a:ext cx="5290613" cy="1268730"/>
          </a:xfrm>
          <a:prstGeom prst="rect">
            <a:avLst/>
          </a:prstGeom>
        </p:spPr>
        <p:txBody>
          <a:bodyPr anchor="t" rtlCol="false" tIns="0" lIns="0" bIns="0" rIns="0">
            <a:spAutoFit/>
          </a:bodyPr>
          <a:lstStyle/>
          <a:p>
            <a:pPr algn="just">
              <a:lnSpc>
                <a:spcPts val="2520"/>
              </a:lnSpc>
            </a:pPr>
            <a:r>
              <a:rPr lang="en-US" sz="1800">
                <a:solidFill>
                  <a:srgbClr val="000000"/>
                </a:solidFill>
                <a:latin typeface="Arimo"/>
                <a:ea typeface="Arimo"/>
                <a:cs typeface="Arimo"/>
                <a:sym typeface="Arimo"/>
              </a:rPr>
              <a:t>We see that Leverkusen have a lot of shots on target but only around 85 of them have led to goals. Their shots off-target are very low telling us that their shot accuracy was pretty accurate.</a:t>
            </a:r>
          </a:p>
        </p:txBody>
      </p:sp>
      <p:sp>
        <p:nvSpPr>
          <p:cNvPr name="TextBox 6" id="6"/>
          <p:cNvSpPr txBox="true"/>
          <p:nvPr/>
        </p:nvSpPr>
        <p:spPr>
          <a:xfrm rot="0">
            <a:off x="12298195" y="89257"/>
            <a:ext cx="6467665" cy="6942365"/>
          </a:xfrm>
          <a:prstGeom prst="rect">
            <a:avLst/>
          </a:prstGeom>
        </p:spPr>
        <p:txBody>
          <a:bodyPr anchor="t" rtlCol="false" tIns="0" lIns="0" bIns="0" rIns="0">
            <a:spAutoFit/>
          </a:bodyPr>
          <a:lstStyle/>
          <a:p>
            <a:pPr algn="l">
              <a:lnSpc>
                <a:spcPts val="11065"/>
              </a:lnSpc>
            </a:pPr>
            <a:r>
              <a:rPr lang="en-US" sz="7903">
                <a:solidFill>
                  <a:srgbClr val="2A441A"/>
                </a:solidFill>
                <a:latin typeface="Anton"/>
                <a:ea typeface="Anton"/>
                <a:cs typeface="Anton"/>
                <a:sym typeface="Anton"/>
              </a:rPr>
              <a:t>WHAT IS THE DISTRIBUTION OF SHOT OUTCOMES?</a:t>
            </a:r>
          </a:p>
          <a:p>
            <a:pPr algn="l">
              <a:lnSpc>
                <a:spcPts val="11065"/>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333" t="0" r="-33333" b="0"/>
            </a:stretch>
          </a:blipFill>
        </p:spPr>
      </p:sp>
      <p:grpSp>
        <p:nvGrpSpPr>
          <p:cNvPr name="Group 3" id="3"/>
          <p:cNvGrpSpPr/>
          <p:nvPr/>
        </p:nvGrpSpPr>
        <p:grpSpPr>
          <a:xfrm rot="0">
            <a:off x="8842020" y="-147470"/>
            <a:ext cx="9445980" cy="10587937"/>
            <a:chOff x="0" y="0"/>
            <a:chExt cx="1016079" cy="1138916"/>
          </a:xfrm>
        </p:grpSpPr>
        <p:sp>
          <p:nvSpPr>
            <p:cNvPr name="Freeform 4" id="4"/>
            <p:cNvSpPr/>
            <p:nvPr/>
          </p:nvSpPr>
          <p:spPr>
            <a:xfrm flipH="false" flipV="false" rot="0">
              <a:off x="0" y="0"/>
              <a:ext cx="1016079" cy="1138916"/>
            </a:xfrm>
            <a:custGeom>
              <a:avLst/>
              <a:gdLst/>
              <a:ahLst/>
              <a:cxnLst/>
              <a:rect r="r" b="b" t="t" l="l"/>
              <a:pathLst>
                <a:path h="1138916" w="1016079">
                  <a:moveTo>
                    <a:pt x="0" y="0"/>
                  </a:moveTo>
                  <a:lnTo>
                    <a:pt x="1016079" y="0"/>
                  </a:lnTo>
                  <a:lnTo>
                    <a:pt x="1016079" y="1138916"/>
                  </a:lnTo>
                  <a:lnTo>
                    <a:pt x="0" y="1138916"/>
                  </a:lnTo>
                  <a:close/>
                </a:path>
              </a:pathLst>
            </a:custGeom>
            <a:blipFill>
              <a:blip r:embed="rId3"/>
              <a:stretch>
                <a:fillRect l="0" t="-82" r="0" b="-82"/>
              </a:stretch>
            </a:blipFill>
          </p:spPr>
        </p:sp>
      </p:grpSp>
      <p:sp>
        <p:nvSpPr>
          <p:cNvPr name="TextBox 5" id="5"/>
          <p:cNvSpPr txBox="true"/>
          <p:nvPr/>
        </p:nvSpPr>
        <p:spPr>
          <a:xfrm rot="0">
            <a:off x="708765" y="5089348"/>
            <a:ext cx="7485124" cy="4122397"/>
          </a:xfrm>
          <a:prstGeom prst="rect">
            <a:avLst/>
          </a:prstGeom>
        </p:spPr>
        <p:txBody>
          <a:bodyPr anchor="t" rtlCol="false" tIns="0" lIns="0" bIns="0" rIns="0">
            <a:spAutoFit/>
          </a:bodyPr>
          <a:lstStyle/>
          <a:p>
            <a:pPr algn="just">
              <a:lnSpc>
                <a:spcPts val="3307"/>
              </a:lnSpc>
            </a:pPr>
            <a:r>
              <a:rPr lang="en-US" sz="2362">
                <a:solidFill>
                  <a:srgbClr val="000000"/>
                </a:solidFill>
                <a:latin typeface="Arimo"/>
                <a:ea typeface="Arimo"/>
                <a:cs typeface="Arimo"/>
                <a:sym typeface="Arimo"/>
              </a:rPr>
              <a:t>expected goals (xG) is a performance metric used to evaluate player performance. It tells us the expected goals from the player.</a:t>
            </a:r>
          </a:p>
          <a:p>
            <a:pPr algn="just">
              <a:lnSpc>
                <a:spcPts val="3307"/>
              </a:lnSpc>
            </a:pPr>
          </a:p>
          <a:p>
            <a:pPr algn="just">
              <a:lnSpc>
                <a:spcPts val="3307"/>
              </a:lnSpc>
            </a:pPr>
            <a:r>
              <a:rPr lang="en-US" sz="2362">
                <a:solidFill>
                  <a:srgbClr val="000000"/>
                </a:solidFill>
                <a:latin typeface="Arimo"/>
                <a:ea typeface="Arimo"/>
                <a:cs typeface="Arimo"/>
                <a:sym typeface="Arimo"/>
              </a:rPr>
              <a:t>For the team to shine, some players must have performed well above expectations. Considering performance to be the difference between </a:t>
            </a:r>
          </a:p>
          <a:p>
            <a:pPr algn="just">
              <a:lnSpc>
                <a:spcPts val="3307"/>
              </a:lnSpc>
            </a:pPr>
            <a:r>
              <a:rPr lang="en-US" sz="2362">
                <a:solidFill>
                  <a:srgbClr val="000000"/>
                </a:solidFill>
                <a:latin typeface="Arimo"/>
                <a:ea typeface="Arimo"/>
                <a:cs typeface="Arimo"/>
                <a:sym typeface="Arimo"/>
              </a:rPr>
              <a:t>total goals-expected goals, Garcia has been the outshining performer.</a:t>
            </a:r>
          </a:p>
          <a:p>
            <a:pPr algn="just">
              <a:lnSpc>
                <a:spcPts val="3307"/>
              </a:lnSpc>
            </a:pPr>
          </a:p>
        </p:txBody>
      </p:sp>
      <p:sp>
        <p:nvSpPr>
          <p:cNvPr name="TextBox 6" id="6"/>
          <p:cNvSpPr txBox="true"/>
          <p:nvPr/>
        </p:nvSpPr>
        <p:spPr>
          <a:xfrm rot="0">
            <a:off x="-1614040" y="525948"/>
            <a:ext cx="9169701" cy="4418407"/>
          </a:xfrm>
          <a:prstGeom prst="rect">
            <a:avLst/>
          </a:prstGeom>
        </p:spPr>
        <p:txBody>
          <a:bodyPr anchor="t" rtlCol="false" tIns="0" lIns="0" bIns="0" rIns="0">
            <a:spAutoFit/>
          </a:bodyPr>
          <a:lstStyle/>
          <a:p>
            <a:pPr algn="r">
              <a:lnSpc>
                <a:spcPts val="11775"/>
              </a:lnSpc>
            </a:pPr>
            <a:r>
              <a:rPr lang="en-US" sz="8411">
                <a:solidFill>
                  <a:srgbClr val="000000"/>
                </a:solidFill>
                <a:latin typeface="Anton"/>
                <a:ea typeface="Anton"/>
                <a:cs typeface="Anton"/>
                <a:sym typeface="Anton"/>
              </a:rPr>
              <a:t>TOP PLAYERS WHO OUTPERFORMED XG</a:t>
            </a:r>
          </a:p>
          <a:p>
            <a:pPr algn="r">
              <a:lnSpc>
                <a:spcPts val="11775"/>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333" t="0" r="-33333" b="0"/>
            </a:stretch>
          </a:blipFill>
        </p:spPr>
      </p:sp>
      <p:grpSp>
        <p:nvGrpSpPr>
          <p:cNvPr name="Group 3" id="3"/>
          <p:cNvGrpSpPr/>
          <p:nvPr/>
        </p:nvGrpSpPr>
        <p:grpSpPr>
          <a:xfrm rot="0">
            <a:off x="0" y="1259881"/>
            <a:ext cx="9054226" cy="5212716"/>
            <a:chOff x="0" y="0"/>
            <a:chExt cx="839888" cy="483542"/>
          </a:xfrm>
        </p:grpSpPr>
        <p:sp>
          <p:nvSpPr>
            <p:cNvPr name="Freeform 4" id="4"/>
            <p:cNvSpPr/>
            <p:nvPr/>
          </p:nvSpPr>
          <p:spPr>
            <a:xfrm flipH="false" flipV="false" rot="0">
              <a:off x="0" y="0"/>
              <a:ext cx="839888" cy="483542"/>
            </a:xfrm>
            <a:custGeom>
              <a:avLst/>
              <a:gdLst/>
              <a:ahLst/>
              <a:cxnLst/>
              <a:rect r="r" b="b" t="t" l="l"/>
              <a:pathLst>
                <a:path h="483542" w="839888">
                  <a:moveTo>
                    <a:pt x="0" y="0"/>
                  </a:moveTo>
                  <a:lnTo>
                    <a:pt x="839888" y="0"/>
                  </a:lnTo>
                  <a:lnTo>
                    <a:pt x="839888" y="483542"/>
                  </a:lnTo>
                  <a:lnTo>
                    <a:pt x="0" y="483542"/>
                  </a:lnTo>
                  <a:close/>
                </a:path>
              </a:pathLst>
            </a:custGeom>
            <a:blipFill>
              <a:blip r:embed="rId3"/>
              <a:stretch>
                <a:fillRect l="0" t="-1891" r="0" b="-1891"/>
              </a:stretch>
            </a:blipFill>
          </p:spPr>
        </p:sp>
      </p:grpSp>
      <p:grpSp>
        <p:nvGrpSpPr>
          <p:cNvPr name="Group 5" id="5"/>
          <p:cNvGrpSpPr/>
          <p:nvPr/>
        </p:nvGrpSpPr>
        <p:grpSpPr>
          <a:xfrm rot="0">
            <a:off x="9054226" y="1242827"/>
            <a:ext cx="9233774" cy="5510053"/>
            <a:chOff x="0" y="0"/>
            <a:chExt cx="947544" cy="565426"/>
          </a:xfrm>
        </p:grpSpPr>
        <p:sp>
          <p:nvSpPr>
            <p:cNvPr name="Freeform 6" id="6"/>
            <p:cNvSpPr/>
            <p:nvPr/>
          </p:nvSpPr>
          <p:spPr>
            <a:xfrm flipH="false" flipV="false" rot="0">
              <a:off x="0" y="0"/>
              <a:ext cx="947544" cy="565426"/>
            </a:xfrm>
            <a:custGeom>
              <a:avLst/>
              <a:gdLst/>
              <a:ahLst/>
              <a:cxnLst/>
              <a:rect r="r" b="b" t="t" l="l"/>
              <a:pathLst>
                <a:path h="565426" w="947544">
                  <a:moveTo>
                    <a:pt x="0" y="0"/>
                  </a:moveTo>
                  <a:lnTo>
                    <a:pt x="947544" y="0"/>
                  </a:lnTo>
                  <a:lnTo>
                    <a:pt x="947544" y="565426"/>
                  </a:lnTo>
                  <a:lnTo>
                    <a:pt x="0" y="565426"/>
                  </a:lnTo>
                  <a:close/>
                </a:path>
              </a:pathLst>
            </a:custGeom>
            <a:blipFill>
              <a:blip r:embed="rId4"/>
              <a:stretch>
                <a:fillRect l="0" t="-64" r="0" b="-64"/>
              </a:stretch>
            </a:blipFill>
          </p:spPr>
        </p:sp>
      </p:grpSp>
      <p:sp>
        <p:nvSpPr>
          <p:cNvPr name="TextBox 7" id="7"/>
          <p:cNvSpPr txBox="true"/>
          <p:nvPr/>
        </p:nvSpPr>
        <p:spPr>
          <a:xfrm rot="0">
            <a:off x="167335" y="6671206"/>
            <a:ext cx="11077039" cy="4146075"/>
          </a:xfrm>
          <a:prstGeom prst="rect">
            <a:avLst/>
          </a:prstGeom>
        </p:spPr>
        <p:txBody>
          <a:bodyPr anchor="t" rtlCol="false" tIns="0" lIns="0" bIns="0" rIns="0">
            <a:spAutoFit/>
          </a:bodyPr>
          <a:lstStyle/>
          <a:p>
            <a:pPr algn="l">
              <a:lnSpc>
                <a:spcPts val="11065"/>
              </a:lnSpc>
            </a:pPr>
            <a:r>
              <a:rPr lang="en-US" sz="7903">
                <a:solidFill>
                  <a:srgbClr val="2A441A"/>
                </a:solidFill>
                <a:latin typeface="Anton"/>
                <a:ea typeface="Anton"/>
                <a:cs typeface="Anton"/>
                <a:sym typeface="Anton"/>
              </a:rPr>
              <a:t>GOAL SCORING TREND VS CONCEDED TREND</a:t>
            </a:r>
          </a:p>
          <a:p>
            <a:pPr algn="l">
              <a:lnSpc>
                <a:spcPts val="11065"/>
              </a:lnSpc>
              <a:spcBef>
                <a:spcPct val="0"/>
              </a:spcBef>
            </a:pPr>
          </a:p>
        </p:txBody>
      </p:sp>
      <p:sp>
        <p:nvSpPr>
          <p:cNvPr name="TextBox 8" id="8"/>
          <p:cNvSpPr txBox="true"/>
          <p:nvPr/>
        </p:nvSpPr>
        <p:spPr>
          <a:xfrm rot="0">
            <a:off x="9144000" y="7741960"/>
            <a:ext cx="8981562" cy="1771769"/>
          </a:xfrm>
          <a:prstGeom prst="rect">
            <a:avLst/>
          </a:prstGeom>
        </p:spPr>
        <p:txBody>
          <a:bodyPr anchor="t" rtlCol="false" tIns="0" lIns="0" bIns="0" rIns="0">
            <a:spAutoFit/>
          </a:bodyPr>
          <a:lstStyle/>
          <a:p>
            <a:pPr algn="just">
              <a:lnSpc>
                <a:spcPts val="3566"/>
              </a:lnSpc>
            </a:pPr>
            <a:r>
              <a:rPr lang="en-US" sz="2547">
                <a:solidFill>
                  <a:srgbClr val="000000"/>
                </a:solidFill>
                <a:latin typeface="Arimo"/>
                <a:ea typeface="Arimo"/>
                <a:cs typeface="Arimo"/>
                <a:sym typeface="Arimo"/>
              </a:rPr>
              <a:t>As we can see, Leverkusen has consistently scored 2 goals or above throughout the season.</a:t>
            </a:r>
          </a:p>
          <a:p>
            <a:pPr algn="just">
              <a:lnSpc>
                <a:spcPts val="3566"/>
              </a:lnSpc>
            </a:pPr>
            <a:r>
              <a:rPr lang="en-US" sz="2547">
                <a:solidFill>
                  <a:srgbClr val="000000"/>
                </a:solidFill>
                <a:latin typeface="Arimo"/>
                <a:ea typeface="Arimo"/>
                <a:cs typeface="Arimo"/>
                <a:sym typeface="Arimo"/>
              </a:rPr>
              <a:t>They have also not conceded more than 2 goals in any other match. Their defense has been consistent.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333" t="0" r="-33333" b="0"/>
            </a:stretch>
          </a:blipFill>
        </p:spPr>
      </p:sp>
      <p:grpSp>
        <p:nvGrpSpPr>
          <p:cNvPr name="Group 3" id="3"/>
          <p:cNvGrpSpPr/>
          <p:nvPr/>
        </p:nvGrpSpPr>
        <p:grpSpPr>
          <a:xfrm rot="0">
            <a:off x="6819694" y="-20894"/>
            <a:ext cx="11468306" cy="7332342"/>
            <a:chOff x="0" y="0"/>
            <a:chExt cx="1200182" cy="767345"/>
          </a:xfrm>
        </p:grpSpPr>
        <p:sp>
          <p:nvSpPr>
            <p:cNvPr name="Freeform 4" id="4"/>
            <p:cNvSpPr/>
            <p:nvPr/>
          </p:nvSpPr>
          <p:spPr>
            <a:xfrm flipH="false" flipV="false" rot="0">
              <a:off x="0" y="0"/>
              <a:ext cx="1200182" cy="767345"/>
            </a:xfrm>
            <a:custGeom>
              <a:avLst/>
              <a:gdLst/>
              <a:ahLst/>
              <a:cxnLst/>
              <a:rect r="r" b="b" t="t" l="l"/>
              <a:pathLst>
                <a:path h="767345" w="1200182">
                  <a:moveTo>
                    <a:pt x="0" y="0"/>
                  </a:moveTo>
                  <a:lnTo>
                    <a:pt x="1200182" y="0"/>
                  </a:lnTo>
                  <a:lnTo>
                    <a:pt x="1200182" y="767345"/>
                  </a:lnTo>
                  <a:lnTo>
                    <a:pt x="0" y="767345"/>
                  </a:lnTo>
                  <a:close/>
                </a:path>
              </a:pathLst>
            </a:custGeom>
            <a:blipFill>
              <a:blip r:embed="rId3"/>
              <a:stretch>
                <a:fillRect l="0" t="-8774" r="0" b="-8774"/>
              </a:stretch>
            </a:blipFill>
          </p:spPr>
        </p:sp>
      </p:grpSp>
      <p:sp>
        <p:nvSpPr>
          <p:cNvPr name="TextBox 5" id="5"/>
          <p:cNvSpPr txBox="true"/>
          <p:nvPr/>
        </p:nvSpPr>
        <p:spPr>
          <a:xfrm rot="0">
            <a:off x="314998" y="264280"/>
            <a:ext cx="6314850" cy="9738654"/>
          </a:xfrm>
          <a:prstGeom prst="rect">
            <a:avLst/>
          </a:prstGeom>
        </p:spPr>
        <p:txBody>
          <a:bodyPr anchor="t" rtlCol="false" tIns="0" lIns="0" bIns="0" rIns="0">
            <a:spAutoFit/>
          </a:bodyPr>
          <a:lstStyle/>
          <a:p>
            <a:pPr algn="l">
              <a:lnSpc>
                <a:spcPts val="11065"/>
              </a:lnSpc>
            </a:pPr>
            <a:r>
              <a:rPr lang="en-US" sz="7903">
                <a:solidFill>
                  <a:srgbClr val="000000"/>
                </a:solidFill>
                <a:latin typeface="Anton"/>
                <a:ea typeface="Anton"/>
                <a:cs typeface="Anton"/>
                <a:sym typeface="Anton"/>
              </a:rPr>
              <a:t> BAYER LEVERKUSEN'S PASSING NETWORK VS BAYERN MUNICH</a:t>
            </a:r>
          </a:p>
          <a:p>
            <a:pPr algn="l">
              <a:lnSpc>
                <a:spcPts val="11065"/>
              </a:lnSpc>
            </a:pPr>
          </a:p>
          <a:p>
            <a:pPr algn="l">
              <a:lnSpc>
                <a:spcPts val="11065"/>
              </a:lnSpc>
              <a:spcBef>
                <a:spcPct val="0"/>
              </a:spcBef>
            </a:pPr>
          </a:p>
        </p:txBody>
      </p:sp>
      <p:sp>
        <p:nvSpPr>
          <p:cNvPr name="TextBox 6" id="6"/>
          <p:cNvSpPr txBox="true"/>
          <p:nvPr/>
        </p:nvSpPr>
        <p:spPr>
          <a:xfrm rot="0">
            <a:off x="1028700" y="7989570"/>
            <a:ext cx="12686802" cy="1897380"/>
          </a:xfrm>
          <a:prstGeom prst="rect">
            <a:avLst/>
          </a:prstGeom>
        </p:spPr>
        <p:txBody>
          <a:bodyPr anchor="t" rtlCol="false" tIns="0" lIns="0" bIns="0" rIns="0">
            <a:spAutoFit/>
          </a:bodyPr>
          <a:lstStyle/>
          <a:p>
            <a:pPr algn="just">
              <a:lnSpc>
                <a:spcPts val="2520"/>
              </a:lnSpc>
            </a:pPr>
            <a:r>
              <a:rPr lang="en-US" sz="1800">
                <a:solidFill>
                  <a:srgbClr val="000000"/>
                </a:solidFill>
                <a:latin typeface="Arimo"/>
                <a:ea typeface="Arimo"/>
                <a:cs typeface="Arimo"/>
                <a:sym typeface="Arimo"/>
              </a:rPr>
              <a:t>Bayern Munich were the only close contenders to Leverkusen in 23/24. Let's analyze how the team’s passing network was against them.</a:t>
            </a:r>
          </a:p>
          <a:p>
            <a:pPr algn="just">
              <a:lnSpc>
                <a:spcPts val="2520"/>
              </a:lnSpc>
            </a:pPr>
          </a:p>
          <a:p>
            <a:pPr algn="just">
              <a:lnSpc>
                <a:spcPts val="2520"/>
              </a:lnSpc>
            </a:pPr>
            <a:r>
              <a:rPr lang="en-US" sz="1800">
                <a:solidFill>
                  <a:srgbClr val="000000"/>
                </a:solidFill>
                <a:latin typeface="Arimo"/>
                <a:ea typeface="Arimo"/>
                <a:cs typeface="Arimo"/>
                <a:sym typeface="Arimo"/>
              </a:rPr>
              <a:t>We can see that most of the successful passes occurred in the midfield(darker red), with some horizontal passes to the wings. Jersey numbers 20 and 30 mainly operated on the wings. Leverkusen had won this match 3-0. They dominated the midfield as we can see in the passing network.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333" t="0" r="-33333" b="0"/>
            </a:stretch>
          </a:blipFill>
        </p:spPr>
      </p:sp>
      <p:grpSp>
        <p:nvGrpSpPr>
          <p:cNvPr name="Group 3" id="3"/>
          <p:cNvGrpSpPr/>
          <p:nvPr/>
        </p:nvGrpSpPr>
        <p:grpSpPr>
          <a:xfrm rot="0">
            <a:off x="0" y="569217"/>
            <a:ext cx="9956144" cy="8218646"/>
            <a:chOff x="0" y="0"/>
            <a:chExt cx="1041931" cy="860099"/>
          </a:xfrm>
        </p:grpSpPr>
        <p:sp>
          <p:nvSpPr>
            <p:cNvPr name="Freeform 4" id="4"/>
            <p:cNvSpPr/>
            <p:nvPr/>
          </p:nvSpPr>
          <p:spPr>
            <a:xfrm flipH="false" flipV="false" rot="0">
              <a:off x="0" y="0"/>
              <a:ext cx="1041931" cy="860099"/>
            </a:xfrm>
            <a:custGeom>
              <a:avLst/>
              <a:gdLst/>
              <a:ahLst/>
              <a:cxnLst/>
              <a:rect r="r" b="b" t="t" l="l"/>
              <a:pathLst>
                <a:path h="860099" w="1041931">
                  <a:moveTo>
                    <a:pt x="0" y="0"/>
                  </a:moveTo>
                  <a:lnTo>
                    <a:pt x="1041931" y="0"/>
                  </a:lnTo>
                  <a:lnTo>
                    <a:pt x="1041931" y="860099"/>
                  </a:lnTo>
                  <a:lnTo>
                    <a:pt x="0" y="860099"/>
                  </a:lnTo>
                  <a:close/>
                </a:path>
              </a:pathLst>
            </a:custGeom>
            <a:blipFill>
              <a:blip r:embed="rId3"/>
              <a:stretch>
                <a:fillRect l="0" t="-273" r="0" b="-273"/>
              </a:stretch>
            </a:blipFill>
          </p:spPr>
        </p:sp>
      </p:grpSp>
      <p:sp>
        <p:nvSpPr>
          <p:cNvPr name="TextBox 5" id="5"/>
          <p:cNvSpPr txBox="true"/>
          <p:nvPr/>
        </p:nvSpPr>
        <p:spPr>
          <a:xfrm rot="0">
            <a:off x="9710040" y="2309308"/>
            <a:ext cx="8338377" cy="8498205"/>
          </a:xfrm>
          <a:prstGeom prst="rect">
            <a:avLst/>
          </a:prstGeom>
        </p:spPr>
        <p:txBody>
          <a:bodyPr anchor="t" rtlCol="false" tIns="0" lIns="0" bIns="0" rIns="0">
            <a:spAutoFit/>
          </a:bodyPr>
          <a:lstStyle/>
          <a:p>
            <a:pPr algn="just">
              <a:lnSpc>
                <a:spcPts val="2520"/>
              </a:lnSpc>
            </a:pPr>
            <a:r>
              <a:rPr lang="en-US" sz="1800">
                <a:solidFill>
                  <a:srgbClr val="000000"/>
                </a:solidFill>
                <a:latin typeface="Arimo"/>
                <a:ea typeface="Arimo"/>
                <a:cs typeface="Arimo"/>
                <a:sym typeface="Arimo"/>
              </a:rPr>
              <a:t>Florian Wirtz was the Man of the Matcha against Bayern Munich. Let’s see a heatmap of where Wirtz has been playing in that match. </a:t>
            </a:r>
          </a:p>
          <a:p>
            <a:pPr algn="just">
              <a:lnSpc>
                <a:spcPts val="2520"/>
              </a:lnSpc>
            </a:pPr>
          </a:p>
          <a:p>
            <a:pPr algn="just" marL="388620" indent="-194310" lvl="1">
              <a:lnSpc>
                <a:spcPts val="2520"/>
              </a:lnSpc>
              <a:buFont typeface="Arial"/>
              <a:buChar char="•"/>
            </a:pPr>
            <a:r>
              <a:rPr lang="en-US" sz="1800">
                <a:solidFill>
                  <a:srgbClr val="000000"/>
                </a:solidFill>
                <a:latin typeface="Arimo"/>
                <a:ea typeface="Arimo"/>
                <a:cs typeface="Arimo"/>
                <a:sym typeface="Arimo"/>
              </a:rPr>
              <a:t>High-Touch Areas:</a:t>
            </a:r>
          </a:p>
          <a:p>
            <a:pPr algn="just" marL="388620" indent="-194310" lvl="1">
              <a:lnSpc>
                <a:spcPts val="2520"/>
              </a:lnSpc>
              <a:buFont typeface="Arial"/>
              <a:buChar char="•"/>
            </a:pPr>
            <a:r>
              <a:rPr lang="en-US" sz="1800">
                <a:solidFill>
                  <a:srgbClr val="000000"/>
                </a:solidFill>
                <a:latin typeface="Arimo"/>
                <a:ea typeface="Arimo"/>
                <a:cs typeface="Arimo"/>
                <a:sym typeface="Arimo"/>
              </a:rPr>
              <a:t>The darker blue hexagons show the regions where Wirtz was most active. These are concentrated:</a:t>
            </a:r>
          </a:p>
          <a:p>
            <a:pPr algn="just" marL="777240" indent="-259080" lvl="2">
              <a:lnSpc>
                <a:spcPts val="2520"/>
              </a:lnSpc>
              <a:buFont typeface="Arial"/>
              <a:buChar char="⚬"/>
            </a:pPr>
            <a:r>
              <a:rPr lang="en-US" sz="1800">
                <a:solidFill>
                  <a:srgbClr val="000000"/>
                </a:solidFill>
                <a:latin typeface="Arimo"/>
                <a:ea typeface="Arimo"/>
                <a:cs typeface="Arimo"/>
                <a:sym typeface="Arimo"/>
              </a:rPr>
              <a:t>In central areas near the halfway line.</a:t>
            </a:r>
          </a:p>
          <a:p>
            <a:pPr algn="just" marL="777240" indent="-259080" lvl="2">
              <a:lnSpc>
                <a:spcPts val="2520"/>
              </a:lnSpc>
              <a:buFont typeface="Arial"/>
              <a:buChar char="⚬"/>
            </a:pPr>
            <a:r>
              <a:rPr lang="en-US" sz="1800">
                <a:solidFill>
                  <a:srgbClr val="000000"/>
                </a:solidFill>
                <a:latin typeface="Arimo"/>
                <a:ea typeface="Arimo"/>
                <a:cs typeface="Arimo"/>
                <a:sym typeface="Arimo"/>
              </a:rPr>
              <a:t>In the right half-space in Bayern's half, possibly suggesting involvement in attacking transitions or buildup play.</a:t>
            </a:r>
          </a:p>
          <a:p>
            <a:pPr algn="just" marL="388620" indent="-194310" lvl="1">
              <a:lnSpc>
                <a:spcPts val="2520"/>
              </a:lnSpc>
              <a:buFont typeface="Arial"/>
              <a:buChar char="•"/>
            </a:pPr>
            <a:r>
              <a:rPr lang="en-US" sz="1800">
                <a:solidFill>
                  <a:srgbClr val="000000"/>
                </a:solidFill>
                <a:latin typeface="Arimo"/>
                <a:ea typeface="Arimo"/>
                <a:cs typeface="Arimo"/>
                <a:sym typeface="Arimo"/>
              </a:rPr>
              <a:t>Some activity is also observed near the opposition box, indicating involvement in the final third.</a:t>
            </a:r>
          </a:p>
          <a:p>
            <a:pPr algn="just" marL="388620" indent="-194310" lvl="1">
              <a:lnSpc>
                <a:spcPts val="2520"/>
              </a:lnSpc>
              <a:buFont typeface="Arial"/>
              <a:buChar char="•"/>
            </a:pPr>
            <a:r>
              <a:rPr lang="en-US" sz="1800">
                <a:solidFill>
                  <a:srgbClr val="000000"/>
                </a:solidFill>
                <a:latin typeface="Arimo"/>
                <a:ea typeface="Arimo"/>
                <a:cs typeface="Arimo"/>
                <a:sym typeface="Arimo"/>
              </a:rPr>
              <a:t>Spread of Touches:</a:t>
            </a:r>
          </a:p>
          <a:p>
            <a:pPr algn="just" marL="388620" indent="-194310" lvl="1">
              <a:lnSpc>
                <a:spcPts val="2520"/>
              </a:lnSpc>
              <a:buFont typeface="Arial"/>
              <a:buChar char="•"/>
            </a:pPr>
            <a:r>
              <a:rPr lang="en-US" sz="1800">
                <a:solidFill>
                  <a:srgbClr val="000000"/>
                </a:solidFill>
                <a:latin typeface="Arimo"/>
                <a:ea typeface="Arimo"/>
                <a:cs typeface="Arimo"/>
                <a:sym typeface="Arimo"/>
              </a:rPr>
              <a:t>Wirtz covered a wide area, suggesting versatility and a box-to-box style of play.</a:t>
            </a:r>
          </a:p>
          <a:p>
            <a:pPr algn="just" marL="388620" indent="-194310" lvl="1">
              <a:lnSpc>
                <a:spcPts val="2520"/>
              </a:lnSpc>
              <a:buFont typeface="Arial"/>
              <a:buChar char="•"/>
            </a:pPr>
            <a:r>
              <a:rPr lang="en-US" sz="1800">
                <a:solidFill>
                  <a:srgbClr val="000000"/>
                </a:solidFill>
                <a:latin typeface="Arimo"/>
                <a:ea typeface="Arimo"/>
                <a:cs typeface="Arimo"/>
                <a:sym typeface="Arimo"/>
              </a:rPr>
              <a:t>There's a noticeable bias toward the right side of the pitch, indicating his role or tactical positioning in the game plan.</a:t>
            </a:r>
          </a:p>
          <a:p>
            <a:pPr algn="just" marL="388620" indent="-194310" lvl="1">
              <a:lnSpc>
                <a:spcPts val="2520"/>
              </a:lnSpc>
              <a:buFont typeface="Arial"/>
              <a:buChar char="•"/>
            </a:pPr>
            <a:r>
              <a:rPr lang="en-US" sz="1800">
                <a:solidFill>
                  <a:srgbClr val="000000"/>
                </a:solidFill>
                <a:latin typeface="Arimo"/>
                <a:ea typeface="Arimo"/>
                <a:cs typeface="Arimo"/>
                <a:sym typeface="Arimo"/>
              </a:rPr>
              <a:t>Total Touches:</a:t>
            </a:r>
          </a:p>
          <a:p>
            <a:pPr algn="just" marL="388620" indent="-194310" lvl="1">
              <a:lnSpc>
                <a:spcPts val="2520"/>
              </a:lnSpc>
              <a:buFont typeface="Arial"/>
              <a:buChar char="•"/>
            </a:pPr>
            <a:r>
              <a:rPr lang="en-US" sz="1800">
                <a:solidFill>
                  <a:srgbClr val="000000"/>
                </a:solidFill>
                <a:latin typeface="Arimo"/>
                <a:ea typeface="Arimo"/>
                <a:cs typeface="Arimo"/>
                <a:sym typeface="Arimo"/>
              </a:rPr>
              <a:t>The map states 273 total touches, which is high, showcasing his centrality to the team's play during this match.</a:t>
            </a:r>
          </a:p>
          <a:p>
            <a:pPr algn="just" marL="388620" indent="-194310" lvl="1">
              <a:lnSpc>
                <a:spcPts val="2520"/>
              </a:lnSpc>
              <a:buFont typeface="Arial"/>
              <a:buChar char="•"/>
            </a:pPr>
            <a:r>
              <a:rPr lang="en-US" sz="1800">
                <a:solidFill>
                  <a:srgbClr val="000000"/>
                </a:solidFill>
                <a:latin typeface="Arimo"/>
                <a:ea typeface="Arimo"/>
                <a:cs typeface="Arimo"/>
                <a:sym typeface="Arimo"/>
              </a:rPr>
              <a:t>Tactical Insights:</a:t>
            </a:r>
          </a:p>
          <a:p>
            <a:pPr algn="just" marL="388620" indent="-194310" lvl="1">
              <a:lnSpc>
                <a:spcPts val="2520"/>
              </a:lnSpc>
              <a:buFont typeface="Arial"/>
              <a:buChar char="•"/>
            </a:pPr>
            <a:r>
              <a:rPr lang="en-US" sz="1800">
                <a:solidFill>
                  <a:srgbClr val="000000"/>
                </a:solidFill>
                <a:latin typeface="Arimo"/>
                <a:ea typeface="Arimo"/>
                <a:cs typeface="Arimo"/>
                <a:sym typeface="Arimo"/>
              </a:rPr>
              <a:t>Frequent touches near the center circle suggest participation in controlling tempo and dictating play.</a:t>
            </a:r>
          </a:p>
          <a:p>
            <a:pPr algn="just" marL="388620" indent="-194310" lvl="1">
              <a:lnSpc>
                <a:spcPts val="2520"/>
              </a:lnSpc>
              <a:buFont typeface="Arial"/>
              <a:buChar char="•"/>
            </a:pPr>
            <a:r>
              <a:rPr lang="en-US" sz="1800">
                <a:solidFill>
                  <a:srgbClr val="000000"/>
                </a:solidFill>
                <a:latin typeface="Arimo"/>
                <a:ea typeface="Arimo"/>
                <a:cs typeface="Arimo"/>
                <a:sym typeface="Arimo"/>
              </a:rPr>
              <a:t>Activity near Bayern's defensive third could imply his role in chance creation or attempts to break down the opposition's defense.</a:t>
            </a:r>
          </a:p>
          <a:p>
            <a:pPr algn="just">
              <a:lnSpc>
                <a:spcPts val="2520"/>
              </a:lnSpc>
            </a:pPr>
          </a:p>
          <a:p>
            <a:pPr algn="just">
              <a:lnSpc>
                <a:spcPts val="2520"/>
              </a:lnSpc>
            </a:pPr>
          </a:p>
          <a:p>
            <a:pPr algn="just">
              <a:lnSpc>
                <a:spcPts val="2520"/>
              </a:lnSpc>
            </a:pPr>
          </a:p>
        </p:txBody>
      </p:sp>
      <p:sp>
        <p:nvSpPr>
          <p:cNvPr name="TextBox 6" id="6"/>
          <p:cNvSpPr txBox="true"/>
          <p:nvPr/>
        </p:nvSpPr>
        <p:spPr>
          <a:xfrm rot="0">
            <a:off x="9710040" y="93617"/>
            <a:ext cx="7978449" cy="3477454"/>
          </a:xfrm>
          <a:prstGeom prst="rect">
            <a:avLst/>
          </a:prstGeom>
        </p:spPr>
        <p:txBody>
          <a:bodyPr anchor="t" rtlCol="false" tIns="0" lIns="0" bIns="0" rIns="0">
            <a:spAutoFit/>
          </a:bodyPr>
          <a:lstStyle/>
          <a:p>
            <a:pPr algn="l">
              <a:lnSpc>
                <a:spcPts val="9292"/>
              </a:lnSpc>
            </a:pPr>
            <a:r>
              <a:rPr lang="en-US" sz="6637">
                <a:solidFill>
                  <a:srgbClr val="2A441A"/>
                </a:solidFill>
                <a:latin typeface="Anton"/>
                <a:ea typeface="Anton"/>
                <a:cs typeface="Anton"/>
                <a:sym typeface="Anton"/>
              </a:rPr>
              <a:t>WHERE HAS WIRTZ BEEN DEPLOYED ON THE PITCH?</a:t>
            </a:r>
          </a:p>
          <a:p>
            <a:pPr algn="l">
              <a:lnSpc>
                <a:spcPts val="9292"/>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333" t="0" r="-33333" b="0"/>
            </a:stretch>
          </a:blipFill>
        </p:spPr>
      </p:sp>
      <p:grpSp>
        <p:nvGrpSpPr>
          <p:cNvPr name="Group 3" id="3"/>
          <p:cNvGrpSpPr/>
          <p:nvPr/>
        </p:nvGrpSpPr>
        <p:grpSpPr>
          <a:xfrm rot="0">
            <a:off x="7643087" y="1370774"/>
            <a:ext cx="9616213" cy="7545452"/>
            <a:chOff x="0" y="0"/>
            <a:chExt cx="458528" cy="359788"/>
          </a:xfrm>
        </p:grpSpPr>
        <p:sp>
          <p:nvSpPr>
            <p:cNvPr name="Freeform 4" id="4"/>
            <p:cNvSpPr/>
            <p:nvPr/>
          </p:nvSpPr>
          <p:spPr>
            <a:xfrm flipH="false" flipV="false" rot="0">
              <a:off x="0" y="0"/>
              <a:ext cx="458528" cy="359788"/>
            </a:xfrm>
            <a:custGeom>
              <a:avLst/>
              <a:gdLst/>
              <a:ahLst/>
              <a:cxnLst/>
              <a:rect r="r" b="b" t="t" l="l"/>
              <a:pathLst>
                <a:path h="359788" w="458528">
                  <a:moveTo>
                    <a:pt x="0" y="0"/>
                  </a:moveTo>
                  <a:lnTo>
                    <a:pt x="458528" y="0"/>
                  </a:lnTo>
                  <a:lnTo>
                    <a:pt x="458528" y="359788"/>
                  </a:lnTo>
                  <a:lnTo>
                    <a:pt x="0" y="359788"/>
                  </a:lnTo>
                  <a:close/>
                </a:path>
              </a:pathLst>
            </a:custGeom>
            <a:blipFill>
              <a:blip r:embed="rId3"/>
              <a:stretch>
                <a:fillRect l="0" t="-910" r="0" b="-910"/>
              </a:stretch>
            </a:blipFill>
          </p:spPr>
        </p:sp>
      </p:grpSp>
      <p:sp>
        <p:nvSpPr>
          <p:cNvPr name="TextBox 5" id="5"/>
          <p:cNvSpPr txBox="true"/>
          <p:nvPr/>
        </p:nvSpPr>
        <p:spPr>
          <a:xfrm rot="0">
            <a:off x="196883" y="2731770"/>
            <a:ext cx="6771851" cy="6926580"/>
          </a:xfrm>
          <a:prstGeom prst="rect">
            <a:avLst/>
          </a:prstGeom>
        </p:spPr>
        <p:txBody>
          <a:bodyPr anchor="t" rtlCol="false" tIns="0" lIns="0" bIns="0" rIns="0">
            <a:spAutoFit/>
          </a:bodyPr>
          <a:lstStyle/>
          <a:p>
            <a:pPr algn="just">
              <a:lnSpc>
                <a:spcPts val="2520"/>
              </a:lnSpc>
            </a:pPr>
            <a:r>
              <a:rPr lang="en-US" sz="1800">
                <a:solidFill>
                  <a:srgbClr val="000000"/>
                </a:solidFill>
                <a:latin typeface="Arimo"/>
                <a:ea typeface="Arimo"/>
                <a:cs typeface="Arimo"/>
                <a:sym typeface="Arimo"/>
              </a:rPr>
              <a:t>Understanding metrics becomes important while analyzing the success of some events. Scoring a goal is an important event in the world of football and a number of factors affect it. One such factor is distance.</a:t>
            </a:r>
          </a:p>
          <a:p>
            <a:pPr algn="just">
              <a:lnSpc>
                <a:spcPts val="2520"/>
              </a:lnSpc>
            </a:pPr>
          </a:p>
          <a:p>
            <a:pPr algn="just">
              <a:lnSpc>
                <a:spcPts val="2520"/>
              </a:lnSpc>
            </a:pPr>
            <a:r>
              <a:rPr lang="en-US" sz="1800">
                <a:solidFill>
                  <a:srgbClr val="000000"/>
                </a:solidFill>
                <a:latin typeface="Arimo"/>
                <a:ea typeface="Arimo"/>
                <a:cs typeface="Arimo"/>
                <a:sym typeface="Arimo"/>
              </a:rPr>
              <a:t>We have used a scatter plot to check if there’s a likelihood of scoring from a particular distance. </a:t>
            </a:r>
          </a:p>
          <a:p>
            <a:pPr algn="just">
              <a:lnSpc>
                <a:spcPts val="2520"/>
              </a:lnSpc>
            </a:pPr>
          </a:p>
          <a:p>
            <a:pPr algn="just" marL="388620" indent="-194310" lvl="1">
              <a:lnSpc>
                <a:spcPts val="2520"/>
              </a:lnSpc>
              <a:buFont typeface="Arial"/>
              <a:buChar char="•"/>
            </a:pPr>
            <a:r>
              <a:rPr lang="en-US" sz="1800">
                <a:solidFill>
                  <a:srgbClr val="000000"/>
                </a:solidFill>
                <a:latin typeface="Arimo"/>
                <a:ea typeface="Arimo"/>
                <a:cs typeface="Arimo"/>
                <a:sym typeface="Arimo"/>
              </a:rPr>
              <a:t>Trend:</a:t>
            </a:r>
          </a:p>
          <a:p>
            <a:pPr algn="just" marL="388620" indent="-194310" lvl="1">
              <a:lnSpc>
                <a:spcPts val="2520"/>
              </a:lnSpc>
              <a:buFont typeface="Arial"/>
              <a:buChar char="•"/>
            </a:pPr>
            <a:r>
              <a:rPr lang="en-US" sz="1800">
                <a:solidFill>
                  <a:srgbClr val="000000"/>
                </a:solidFill>
                <a:latin typeface="Arimo"/>
                <a:ea typeface="Arimo"/>
                <a:cs typeface="Arimo"/>
                <a:sym typeface="Arimo"/>
              </a:rPr>
              <a:t>Shots taken from shorter distances (e.g., less than 10 meters) generally have a higher XG, indicating a higher likelihood of scoring.</a:t>
            </a:r>
          </a:p>
          <a:p>
            <a:pPr algn="just" marL="388620" indent="-194310" lvl="1">
              <a:lnSpc>
                <a:spcPts val="2520"/>
              </a:lnSpc>
              <a:buFont typeface="Arial"/>
              <a:buChar char="•"/>
            </a:pPr>
            <a:r>
              <a:rPr lang="en-US" sz="1800">
                <a:solidFill>
                  <a:srgbClr val="000000"/>
                </a:solidFill>
                <a:latin typeface="Arimo"/>
                <a:ea typeface="Arimo"/>
                <a:cs typeface="Arimo"/>
                <a:sym typeface="Arimo"/>
              </a:rPr>
              <a:t>As the distance increases, the XG values tend to decrease, showing that shots from farther away are less likely to result in a goal.</a:t>
            </a:r>
          </a:p>
          <a:p>
            <a:pPr algn="just" marL="388620" indent="-194310" lvl="1">
              <a:lnSpc>
                <a:spcPts val="2520"/>
              </a:lnSpc>
              <a:buFont typeface="Arial"/>
              <a:buChar char="•"/>
            </a:pPr>
            <a:r>
              <a:rPr lang="en-US" sz="1800">
                <a:solidFill>
                  <a:srgbClr val="000000"/>
                </a:solidFill>
                <a:latin typeface="Arimo"/>
                <a:ea typeface="Arimo"/>
                <a:cs typeface="Arimo"/>
                <a:sym typeface="Arimo"/>
              </a:rPr>
              <a:t>Spread:</a:t>
            </a:r>
          </a:p>
          <a:p>
            <a:pPr algn="just" marL="388620" indent="-194310" lvl="1">
              <a:lnSpc>
                <a:spcPts val="2520"/>
              </a:lnSpc>
              <a:buFont typeface="Arial"/>
              <a:buChar char="•"/>
            </a:pPr>
            <a:r>
              <a:rPr lang="en-US" sz="1800">
                <a:solidFill>
                  <a:srgbClr val="000000"/>
                </a:solidFill>
                <a:latin typeface="Arimo"/>
                <a:ea typeface="Arimo"/>
                <a:cs typeface="Arimo"/>
                <a:sym typeface="Arimo"/>
              </a:rPr>
              <a:t>There is some variability even for close-range shots, meaning factors beyond distance, like angle, goalkeeper positioning, or defenders, may also influence scoring chances.</a:t>
            </a:r>
          </a:p>
          <a:p>
            <a:pPr algn="just" marL="388620" indent="-194310" lvl="1">
              <a:lnSpc>
                <a:spcPts val="2520"/>
              </a:lnSpc>
              <a:buFont typeface="Arial"/>
              <a:buChar char="•"/>
            </a:pPr>
            <a:r>
              <a:rPr lang="en-US" sz="1800">
                <a:solidFill>
                  <a:srgbClr val="000000"/>
                </a:solidFill>
                <a:latin typeface="Arimo"/>
                <a:ea typeface="Arimo"/>
                <a:cs typeface="Arimo"/>
                <a:sym typeface="Arimo"/>
              </a:rPr>
              <a:t>Very distant shots (e.g., over 30 meters) have very low XG values, reflecting their difficulty in resulting in a goal.</a:t>
            </a:r>
          </a:p>
          <a:p>
            <a:pPr algn="just">
              <a:lnSpc>
                <a:spcPts val="2520"/>
              </a:lnSpc>
            </a:pPr>
          </a:p>
        </p:txBody>
      </p:sp>
      <p:sp>
        <p:nvSpPr>
          <p:cNvPr name="TextBox 6" id="6"/>
          <p:cNvSpPr txBox="true"/>
          <p:nvPr/>
        </p:nvSpPr>
        <p:spPr>
          <a:xfrm rot="0">
            <a:off x="196883" y="-95250"/>
            <a:ext cx="6771851" cy="3493687"/>
          </a:xfrm>
          <a:prstGeom prst="rect">
            <a:avLst/>
          </a:prstGeom>
        </p:spPr>
        <p:txBody>
          <a:bodyPr anchor="t" rtlCol="false" tIns="0" lIns="0" bIns="0" rIns="0">
            <a:spAutoFit/>
          </a:bodyPr>
          <a:lstStyle/>
          <a:p>
            <a:pPr algn="l">
              <a:lnSpc>
                <a:spcPts val="6974"/>
              </a:lnSpc>
            </a:pPr>
            <a:r>
              <a:rPr lang="en-US" sz="4981">
                <a:solidFill>
                  <a:srgbClr val="2A441A"/>
                </a:solidFill>
                <a:latin typeface="Anton"/>
                <a:ea typeface="Anton"/>
                <a:cs typeface="Anton"/>
                <a:sym typeface="Anton"/>
              </a:rPr>
              <a:t>DOES THE SHOT DISTANCE SHOW A LIKLIHOOD TO SCORING?</a:t>
            </a:r>
          </a:p>
          <a:p>
            <a:pPr algn="l">
              <a:lnSpc>
                <a:spcPts val="6974"/>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333" t="0" r="-33333" b="0"/>
            </a:stretch>
          </a:blipFill>
        </p:spPr>
      </p:sp>
      <p:grpSp>
        <p:nvGrpSpPr>
          <p:cNvPr name="Group 3" id="3"/>
          <p:cNvGrpSpPr/>
          <p:nvPr/>
        </p:nvGrpSpPr>
        <p:grpSpPr>
          <a:xfrm rot="0">
            <a:off x="0" y="0"/>
            <a:ext cx="9054226" cy="6752881"/>
            <a:chOff x="0" y="0"/>
            <a:chExt cx="839888" cy="626411"/>
          </a:xfrm>
        </p:grpSpPr>
        <p:sp>
          <p:nvSpPr>
            <p:cNvPr name="Freeform 4" id="4"/>
            <p:cNvSpPr/>
            <p:nvPr/>
          </p:nvSpPr>
          <p:spPr>
            <a:xfrm flipH="false" flipV="false" rot="0">
              <a:off x="0" y="0"/>
              <a:ext cx="839888" cy="626411"/>
            </a:xfrm>
            <a:custGeom>
              <a:avLst/>
              <a:gdLst/>
              <a:ahLst/>
              <a:cxnLst/>
              <a:rect r="r" b="b" t="t" l="l"/>
              <a:pathLst>
                <a:path h="626411" w="839888">
                  <a:moveTo>
                    <a:pt x="0" y="0"/>
                  </a:moveTo>
                  <a:lnTo>
                    <a:pt x="839888" y="0"/>
                  </a:lnTo>
                  <a:lnTo>
                    <a:pt x="839888" y="626411"/>
                  </a:lnTo>
                  <a:lnTo>
                    <a:pt x="0" y="626411"/>
                  </a:lnTo>
                  <a:close/>
                </a:path>
              </a:pathLst>
            </a:custGeom>
            <a:blipFill>
              <a:blip r:embed="rId3"/>
              <a:stretch>
                <a:fillRect l="0" t="-67" r="0" b="-67"/>
              </a:stretch>
            </a:blipFill>
          </p:spPr>
        </p:sp>
      </p:grpSp>
      <p:grpSp>
        <p:nvGrpSpPr>
          <p:cNvPr name="Group 5" id="5"/>
          <p:cNvGrpSpPr/>
          <p:nvPr/>
        </p:nvGrpSpPr>
        <p:grpSpPr>
          <a:xfrm rot="0">
            <a:off x="9054226" y="413440"/>
            <a:ext cx="9233774" cy="5108920"/>
            <a:chOff x="0" y="0"/>
            <a:chExt cx="947544" cy="524263"/>
          </a:xfrm>
        </p:grpSpPr>
        <p:sp>
          <p:nvSpPr>
            <p:cNvPr name="Freeform 6" id="6"/>
            <p:cNvSpPr/>
            <p:nvPr/>
          </p:nvSpPr>
          <p:spPr>
            <a:xfrm flipH="false" flipV="false" rot="0">
              <a:off x="0" y="0"/>
              <a:ext cx="947544" cy="524263"/>
            </a:xfrm>
            <a:custGeom>
              <a:avLst/>
              <a:gdLst/>
              <a:ahLst/>
              <a:cxnLst/>
              <a:rect r="r" b="b" t="t" l="l"/>
              <a:pathLst>
                <a:path h="524263" w="947544">
                  <a:moveTo>
                    <a:pt x="0" y="0"/>
                  </a:moveTo>
                  <a:lnTo>
                    <a:pt x="947544" y="0"/>
                  </a:lnTo>
                  <a:lnTo>
                    <a:pt x="947544" y="524263"/>
                  </a:lnTo>
                  <a:lnTo>
                    <a:pt x="0" y="524263"/>
                  </a:lnTo>
                  <a:close/>
                </a:path>
              </a:pathLst>
            </a:custGeom>
            <a:blipFill>
              <a:blip r:embed="rId4"/>
              <a:stretch>
                <a:fillRect l="-3587" t="0" r="-3587" b="0"/>
              </a:stretch>
            </a:blipFill>
          </p:spPr>
        </p:sp>
      </p:grpSp>
      <p:sp>
        <p:nvSpPr>
          <p:cNvPr name="TextBox 7" id="7"/>
          <p:cNvSpPr txBox="true"/>
          <p:nvPr/>
        </p:nvSpPr>
        <p:spPr>
          <a:xfrm rot="0">
            <a:off x="0" y="7048017"/>
            <a:ext cx="11077039" cy="1349786"/>
          </a:xfrm>
          <a:prstGeom prst="rect">
            <a:avLst/>
          </a:prstGeom>
        </p:spPr>
        <p:txBody>
          <a:bodyPr anchor="t" rtlCol="false" tIns="0" lIns="0" bIns="0" rIns="0">
            <a:spAutoFit/>
          </a:bodyPr>
          <a:lstStyle/>
          <a:p>
            <a:pPr algn="l">
              <a:lnSpc>
                <a:spcPts val="11065"/>
              </a:lnSpc>
              <a:spcBef>
                <a:spcPct val="0"/>
              </a:spcBef>
            </a:pPr>
            <a:r>
              <a:rPr lang="en-US" sz="7903">
                <a:solidFill>
                  <a:srgbClr val="2A441A"/>
                </a:solidFill>
                <a:latin typeface="Anton"/>
                <a:ea typeface="Anton"/>
                <a:cs typeface="Anton"/>
                <a:sym typeface="Anton"/>
              </a:rPr>
              <a:t>HOME AND AWAY STATS</a:t>
            </a:r>
          </a:p>
        </p:txBody>
      </p:sp>
      <p:sp>
        <p:nvSpPr>
          <p:cNvPr name="TextBox 8" id="8"/>
          <p:cNvSpPr txBox="true"/>
          <p:nvPr/>
        </p:nvSpPr>
        <p:spPr>
          <a:xfrm rot="0">
            <a:off x="9180332" y="6695731"/>
            <a:ext cx="8981562" cy="3106260"/>
          </a:xfrm>
          <a:prstGeom prst="rect">
            <a:avLst/>
          </a:prstGeom>
        </p:spPr>
        <p:txBody>
          <a:bodyPr anchor="t" rtlCol="false" tIns="0" lIns="0" bIns="0" rIns="0">
            <a:spAutoFit/>
          </a:bodyPr>
          <a:lstStyle/>
          <a:p>
            <a:pPr algn="just">
              <a:lnSpc>
                <a:spcPts val="3566"/>
              </a:lnSpc>
            </a:pPr>
            <a:r>
              <a:rPr lang="en-US" sz="2547">
                <a:solidFill>
                  <a:srgbClr val="000000"/>
                </a:solidFill>
                <a:latin typeface="Arimo"/>
                <a:ea typeface="Arimo"/>
                <a:cs typeface="Arimo"/>
                <a:sym typeface="Arimo"/>
              </a:rPr>
              <a:t>Leverkusen has scored more and conceded less in home matches suggesting that they have been very strong at home.</a:t>
            </a:r>
          </a:p>
          <a:p>
            <a:pPr algn="just">
              <a:lnSpc>
                <a:spcPts val="3566"/>
              </a:lnSpc>
            </a:pPr>
          </a:p>
          <a:p>
            <a:pPr algn="just">
              <a:lnSpc>
                <a:spcPts val="3566"/>
              </a:lnSpc>
            </a:pPr>
            <a:r>
              <a:rPr lang="en-US" sz="2547">
                <a:solidFill>
                  <a:srgbClr val="000000"/>
                </a:solidFill>
                <a:latin typeface="Arimo"/>
                <a:ea typeface="Arimo"/>
                <a:cs typeface="Arimo"/>
                <a:sym typeface="Arimo"/>
              </a:rPr>
              <a:t>Regardless of the goals scored or conceded, it’s interesting to see that the percentage of games won and drawn is the same for both and away matches. There’s no question of a loss as they never lost a match the whole season!!!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333" t="0" r="-33333" b="0"/>
            </a:stretch>
          </a:blipFill>
        </p:spPr>
      </p:sp>
      <p:grpSp>
        <p:nvGrpSpPr>
          <p:cNvPr name="Group 3" id="3"/>
          <p:cNvGrpSpPr/>
          <p:nvPr/>
        </p:nvGrpSpPr>
        <p:grpSpPr>
          <a:xfrm rot="0">
            <a:off x="7643087" y="1370774"/>
            <a:ext cx="10644913" cy="7545452"/>
            <a:chOff x="0" y="0"/>
            <a:chExt cx="507579" cy="359788"/>
          </a:xfrm>
        </p:grpSpPr>
        <p:sp>
          <p:nvSpPr>
            <p:cNvPr name="Freeform 4" id="4"/>
            <p:cNvSpPr/>
            <p:nvPr/>
          </p:nvSpPr>
          <p:spPr>
            <a:xfrm flipH="false" flipV="false" rot="0">
              <a:off x="0" y="0"/>
              <a:ext cx="507579" cy="359788"/>
            </a:xfrm>
            <a:custGeom>
              <a:avLst/>
              <a:gdLst/>
              <a:ahLst/>
              <a:cxnLst/>
              <a:rect r="r" b="b" t="t" l="l"/>
              <a:pathLst>
                <a:path h="359788" w="507579">
                  <a:moveTo>
                    <a:pt x="0" y="0"/>
                  </a:moveTo>
                  <a:lnTo>
                    <a:pt x="507579" y="0"/>
                  </a:lnTo>
                  <a:lnTo>
                    <a:pt x="507579" y="359788"/>
                  </a:lnTo>
                  <a:lnTo>
                    <a:pt x="0" y="359788"/>
                  </a:lnTo>
                  <a:close/>
                </a:path>
              </a:pathLst>
            </a:custGeom>
            <a:blipFill>
              <a:blip r:embed="rId3"/>
              <a:stretch>
                <a:fillRect l="0" t="-435" r="0" b="-435"/>
              </a:stretch>
            </a:blipFill>
          </p:spPr>
        </p:sp>
      </p:grpSp>
      <p:sp>
        <p:nvSpPr>
          <p:cNvPr name="TextBox 5" id="5"/>
          <p:cNvSpPr txBox="true"/>
          <p:nvPr/>
        </p:nvSpPr>
        <p:spPr>
          <a:xfrm rot="0">
            <a:off x="0" y="1520116"/>
            <a:ext cx="7879320" cy="8183880"/>
          </a:xfrm>
          <a:prstGeom prst="rect">
            <a:avLst/>
          </a:prstGeom>
        </p:spPr>
        <p:txBody>
          <a:bodyPr anchor="t" rtlCol="false" tIns="0" lIns="0" bIns="0" rIns="0">
            <a:spAutoFit/>
          </a:bodyPr>
          <a:lstStyle/>
          <a:p>
            <a:pPr algn="just" marL="388620" indent="-194310" lvl="1">
              <a:lnSpc>
                <a:spcPts val="2520"/>
              </a:lnSpc>
              <a:buAutoNum type="arabicPeriod" startAt="1"/>
            </a:pPr>
            <a:r>
              <a:rPr lang="en-US" sz="1800">
                <a:solidFill>
                  <a:srgbClr val="000000"/>
                </a:solidFill>
                <a:latin typeface="Arimo"/>
                <a:ea typeface="Arimo"/>
                <a:cs typeface="Arimo"/>
                <a:sym typeface="Arimo"/>
              </a:rPr>
              <a:t>Blue Points:</a:t>
            </a:r>
          </a:p>
          <a:p>
            <a:pPr algn="just" marL="777240" indent="-259080" lvl="2">
              <a:lnSpc>
                <a:spcPts val="2520"/>
              </a:lnSpc>
              <a:buFont typeface="Arial"/>
              <a:buChar char="⚬"/>
            </a:pPr>
            <a:r>
              <a:rPr lang="en-US" sz="1800">
                <a:solidFill>
                  <a:srgbClr val="000000"/>
                </a:solidFill>
                <a:latin typeface="Arimo"/>
                <a:ea typeface="Arimo"/>
                <a:cs typeface="Arimo"/>
                <a:sym typeface="Arimo"/>
              </a:rPr>
              <a:t>Represent all crosses during the game.</a:t>
            </a:r>
          </a:p>
          <a:p>
            <a:pPr algn="just" marL="777240" indent="-259080" lvl="2">
              <a:lnSpc>
                <a:spcPts val="2520"/>
              </a:lnSpc>
              <a:buFont typeface="Arial"/>
              <a:buChar char="⚬"/>
            </a:pPr>
            <a:r>
              <a:rPr lang="en-US" sz="1800">
                <a:solidFill>
                  <a:srgbClr val="000000"/>
                </a:solidFill>
                <a:latin typeface="Arimo"/>
                <a:ea typeface="Arimo"/>
                <a:cs typeface="Arimo"/>
                <a:sym typeface="Arimo"/>
              </a:rPr>
              <a:t>Most are clustered around the wide areas in the attacking third, especially near the opposition's penalty box and along the wings.</a:t>
            </a:r>
          </a:p>
          <a:p>
            <a:pPr algn="just" marL="388620" indent="-194310" lvl="1">
              <a:lnSpc>
                <a:spcPts val="2520"/>
              </a:lnSpc>
              <a:buAutoNum type="arabicPeriod" startAt="1"/>
            </a:pPr>
            <a:r>
              <a:rPr lang="en-US" sz="1800">
                <a:solidFill>
                  <a:srgbClr val="000000"/>
                </a:solidFill>
                <a:latin typeface="Arimo"/>
                <a:ea typeface="Arimo"/>
                <a:cs typeface="Arimo"/>
                <a:sym typeface="Arimo"/>
              </a:rPr>
              <a:t>Red Points:</a:t>
            </a:r>
          </a:p>
          <a:p>
            <a:pPr algn="just" marL="777240" indent="-259080" lvl="2">
              <a:lnSpc>
                <a:spcPts val="2520"/>
              </a:lnSpc>
              <a:buFont typeface="Arial"/>
              <a:buChar char="⚬"/>
            </a:pPr>
            <a:r>
              <a:rPr lang="en-US" sz="1800">
                <a:solidFill>
                  <a:srgbClr val="000000"/>
                </a:solidFill>
                <a:latin typeface="Arimo"/>
                <a:ea typeface="Arimo"/>
                <a:cs typeface="Arimo"/>
                <a:sym typeface="Arimo"/>
              </a:rPr>
              <a:t>Represent crosses that led to goals.</a:t>
            </a:r>
          </a:p>
          <a:p>
            <a:pPr algn="just" marL="777240" indent="-259080" lvl="2">
              <a:lnSpc>
                <a:spcPts val="2520"/>
              </a:lnSpc>
              <a:buFont typeface="Arial"/>
              <a:buChar char="⚬"/>
            </a:pPr>
            <a:r>
              <a:rPr lang="en-US" sz="1800">
                <a:solidFill>
                  <a:srgbClr val="000000"/>
                </a:solidFill>
                <a:latin typeface="Arimo"/>
                <a:ea typeface="Arimo"/>
                <a:cs typeface="Arimo"/>
                <a:sym typeface="Arimo"/>
              </a:rPr>
              <a:t>These are fewer in number and occur closer to the penalty area, particularly near the edge or within the final third.</a:t>
            </a:r>
          </a:p>
          <a:p>
            <a:pPr algn="just" marL="777240" indent="-259080" lvl="2">
              <a:lnSpc>
                <a:spcPts val="2520"/>
              </a:lnSpc>
              <a:buFont typeface="Arial"/>
              <a:buChar char="⚬"/>
            </a:pPr>
            <a:r>
              <a:rPr lang="en-US" sz="1800">
                <a:solidFill>
                  <a:srgbClr val="000000"/>
                </a:solidFill>
                <a:latin typeface="Arimo"/>
                <a:ea typeface="Arimo"/>
                <a:cs typeface="Arimo"/>
                <a:sym typeface="Arimo"/>
              </a:rPr>
              <a:t>Indicates that dangerous crosses tend to originate closer to the goal.</a:t>
            </a:r>
          </a:p>
          <a:p>
            <a:pPr algn="just" marL="388620" indent="-194310" lvl="1">
              <a:lnSpc>
                <a:spcPts val="2520"/>
              </a:lnSpc>
              <a:buAutoNum type="arabicPeriod" startAt="1"/>
            </a:pPr>
            <a:r>
              <a:rPr lang="en-US" sz="1800">
                <a:solidFill>
                  <a:srgbClr val="000000"/>
                </a:solidFill>
                <a:latin typeface="Arimo"/>
                <a:ea typeface="Arimo"/>
                <a:cs typeface="Arimo"/>
                <a:sym typeface="Arimo"/>
              </a:rPr>
              <a:t>Pink Points:</a:t>
            </a:r>
          </a:p>
          <a:p>
            <a:pPr algn="just" marL="777240" indent="-259080" lvl="2">
              <a:lnSpc>
                <a:spcPts val="2520"/>
              </a:lnSpc>
              <a:buFont typeface="Arial"/>
              <a:buChar char="⚬"/>
            </a:pPr>
            <a:r>
              <a:rPr lang="en-US" sz="1800">
                <a:solidFill>
                  <a:srgbClr val="000000"/>
                </a:solidFill>
                <a:latin typeface="Arimo"/>
                <a:ea typeface="Arimo"/>
                <a:cs typeface="Arimo"/>
                <a:sym typeface="Arimo"/>
              </a:rPr>
              <a:t>Represent passes that led to open goals.</a:t>
            </a:r>
          </a:p>
          <a:p>
            <a:pPr algn="just" marL="777240" indent="-259080" lvl="2">
              <a:lnSpc>
                <a:spcPts val="2520"/>
              </a:lnSpc>
              <a:buFont typeface="Arial"/>
              <a:buChar char="⚬"/>
            </a:pPr>
            <a:r>
              <a:rPr lang="en-US" sz="1800">
                <a:solidFill>
                  <a:srgbClr val="000000"/>
                </a:solidFill>
                <a:latin typeface="Arimo"/>
                <a:ea typeface="Arimo"/>
                <a:cs typeface="Arimo"/>
                <a:sym typeface="Arimo"/>
              </a:rPr>
              <a:t>These are scattered but more concentrated in and around the penalty box.</a:t>
            </a:r>
          </a:p>
          <a:p>
            <a:pPr algn="just" marL="777240" indent="-259080" lvl="2">
              <a:lnSpc>
                <a:spcPts val="2520"/>
              </a:lnSpc>
              <a:buFont typeface="Arial"/>
              <a:buChar char="⚬"/>
            </a:pPr>
            <a:r>
              <a:rPr lang="en-US" sz="1800">
                <a:solidFill>
                  <a:srgbClr val="000000"/>
                </a:solidFill>
                <a:latin typeface="Arimo"/>
                <a:ea typeface="Arimo"/>
                <a:cs typeface="Arimo"/>
                <a:sym typeface="Arimo"/>
              </a:rPr>
              <a:t>Suggests that direct passes near the goal are crucial for creating clear goal-scoring opportunities.</a:t>
            </a:r>
          </a:p>
          <a:p>
            <a:pPr algn="just">
              <a:lnSpc>
                <a:spcPts val="2520"/>
              </a:lnSpc>
            </a:pPr>
            <a:r>
              <a:rPr lang="en-US" sz="1800">
                <a:solidFill>
                  <a:srgbClr val="000000"/>
                </a:solidFill>
                <a:latin typeface="Arimo"/>
                <a:ea typeface="Arimo"/>
                <a:cs typeface="Arimo"/>
                <a:sym typeface="Arimo"/>
              </a:rPr>
              <a:t>Ob</a:t>
            </a:r>
            <a:r>
              <a:rPr lang="en-US" sz="1800">
                <a:solidFill>
                  <a:srgbClr val="000000"/>
                </a:solidFill>
                <a:latin typeface="Arimo"/>
                <a:ea typeface="Arimo"/>
                <a:cs typeface="Arimo"/>
                <a:sym typeface="Arimo"/>
              </a:rPr>
              <a:t>servations:</a:t>
            </a:r>
          </a:p>
          <a:p>
            <a:pPr algn="just" marL="388620" indent="-194310" lvl="1">
              <a:lnSpc>
                <a:spcPts val="2520"/>
              </a:lnSpc>
              <a:buFont typeface="Arial"/>
              <a:buChar char="•"/>
            </a:pPr>
            <a:r>
              <a:rPr lang="en-US" sz="1800">
                <a:solidFill>
                  <a:srgbClr val="000000"/>
                </a:solidFill>
                <a:latin typeface="Arimo"/>
                <a:ea typeface="Arimo"/>
                <a:cs typeface="Arimo"/>
                <a:sym typeface="Arimo"/>
              </a:rPr>
              <a:t>Wide Play Emphasis:</a:t>
            </a:r>
          </a:p>
          <a:p>
            <a:pPr algn="just" marL="777240" indent="-259080" lvl="2">
              <a:lnSpc>
                <a:spcPts val="2520"/>
              </a:lnSpc>
              <a:buFont typeface="Arial"/>
              <a:buChar char="⚬"/>
            </a:pPr>
            <a:r>
              <a:rPr lang="en-US" sz="1800">
                <a:solidFill>
                  <a:srgbClr val="000000"/>
                </a:solidFill>
                <a:latin typeface="Arimo"/>
                <a:ea typeface="Arimo"/>
                <a:cs typeface="Arimo"/>
                <a:sym typeface="Arimo"/>
              </a:rPr>
              <a:t>The concentration of crosses (blue) near the wings highlights the importance of wide play and crossing as a strategy.</a:t>
            </a:r>
          </a:p>
          <a:p>
            <a:pPr algn="just" marL="388620" indent="-194310" lvl="1">
              <a:lnSpc>
                <a:spcPts val="2520"/>
              </a:lnSpc>
              <a:buFont typeface="Arial"/>
              <a:buChar char="•"/>
            </a:pPr>
            <a:r>
              <a:rPr lang="en-US" sz="1800">
                <a:solidFill>
                  <a:srgbClr val="000000"/>
                </a:solidFill>
                <a:latin typeface="Arimo"/>
                <a:ea typeface="Arimo"/>
                <a:cs typeface="Arimo"/>
                <a:sym typeface="Arimo"/>
              </a:rPr>
              <a:t>Eff</a:t>
            </a:r>
            <a:r>
              <a:rPr lang="en-US" sz="1800">
                <a:solidFill>
                  <a:srgbClr val="000000"/>
                </a:solidFill>
                <a:latin typeface="Arimo"/>
                <a:ea typeface="Arimo"/>
                <a:cs typeface="Arimo"/>
                <a:sym typeface="Arimo"/>
              </a:rPr>
              <a:t>ectiveness of Crosses:</a:t>
            </a:r>
          </a:p>
          <a:p>
            <a:pPr algn="just" marL="777240" indent="-259080" lvl="2">
              <a:lnSpc>
                <a:spcPts val="2520"/>
              </a:lnSpc>
              <a:buFont typeface="Arial"/>
              <a:buChar char="⚬"/>
            </a:pPr>
            <a:r>
              <a:rPr lang="en-US" sz="1800">
                <a:solidFill>
                  <a:srgbClr val="000000"/>
                </a:solidFill>
                <a:latin typeface="Arimo"/>
                <a:ea typeface="Arimo"/>
                <a:cs typeface="Arimo"/>
                <a:sym typeface="Arimo"/>
              </a:rPr>
              <a:t>Only a small percentage of crosses (red) lead to goals, suggesting the need for precision in the final third.</a:t>
            </a:r>
          </a:p>
          <a:p>
            <a:pPr algn="just" marL="388620" indent="-194310" lvl="1">
              <a:lnSpc>
                <a:spcPts val="2520"/>
              </a:lnSpc>
              <a:buFont typeface="Arial"/>
              <a:buChar char="•"/>
            </a:pPr>
            <a:r>
              <a:rPr lang="en-US" sz="1800">
                <a:solidFill>
                  <a:srgbClr val="000000"/>
                </a:solidFill>
                <a:latin typeface="Arimo"/>
                <a:ea typeface="Arimo"/>
                <a:cs typeface="Arimo"/>
                <a:sym typeface="Arimo"/>
              </a:rPr>
              <a:t>Central Danger Zone:</a:t>
            </a:r>
          </a:p>
          <a:p>
            <a:pPr algn="just" marL="777240" indent="-259080" lvl="2">
              <a:lnSpc>
                <a:spcPts val="2520"/>
              </a:lnSpc>
              <a:buFont typeface="Arial"/>
              <a:buChar char="⚬"/>
            </a:pPr>
            <a:r>
              <a:rPr lang="en-US" sz="1800">
                <a:solidFill>
                  <a:srgbClr val="000000"/>
                </a:solidFill>
                <a:latin typeface="Arimo"/>
                <a:ea typeface="Arimo"/>
                <a:cs typeface="Arimo"/>
                <a:sym typeface="Arimo"/>
              </a:rPr>
              <a:t>Pink points cluster in central, high-value areas near the penalty spot, underlining the importance of creating chances from central spaces.</a:t>
            </a:r>
          </a:p>
          <a:p>
            <a:pPr algn="just">
              <a:lnSpc>
                <a:spcPts val="2520"/>
              </a:lnSpc>
            </a:pPr>
          </a:p>
        </p:txBody>
      </p:sp>
      <p:sp>
        <p:nvSpPr>
          <p:cNvPr name="TextBox 6" id="6"/>
          <p:cNvSpPr txBox="true"/>
          <p:nvPr/>
        </p:nvSpPr>
        <p:spPr>
          <a:xfrm rot="0">
            <a:off x="369156" y="727310"/>
            <a:ext cx="6771851" cy="849956"/>
          </a:xfrm>
          <a:prstGeom prst="rect">
            <a:avLst/>
          </a:prstGeom>
        </p:spPr>
        <p:txBody>
          <a:bodyPr anchor="t" rtlCol="false" tIns="0" lIns="0" bIns="0" rIns="0">
            <a:spAutoFit/>
          </a:bodyPr>
          <a:lstStyle/>
          <a:p>
            <a:pPr algn="l">
              <a:lnSpc>
                <a:spcPts val="6974"/>
              </a:lnSpc>
              <a:spcBef>
                <a:spcPct val="0"/>
              </a:spcBef>
            </a:pPr>
            <a:r>
              <a:rPr lang="en-US" sz="4981">
                <a:solidFill>
                  <a:srgbClr val="2A441A"/>
                </a:solidFill>
                <a:latin typeface="Anton"/>
                <a:ea typeface="Anton"/>
                <a:cs typeface="Anton"/>
                <a:sym typeface="Anton"/>
              </a:rPr>
              <a:t>CROSSES AND PASSES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333" t="0" r="-33333" b="0"/>
            </a:stretch>
          </a:blipFill>
        </p:spPr>
      </p:sp>
      <p:grpSp>
        <p:nvGrpSpPr>
          <p:cNvPr name="Group 3" id="3"/>
          <p:cNvGrpSpPr/>
          <p:nvPr/>
        </p:nvGrpSpPr>
        <p:grpSpPr>
          <a:xfrm rot="0">
            <a:off x="0" y="0"/>
            <a:ext cx="9054226" cy="6752881"/>
            <a:chOff x="0" y="0"/>
            <a:chExt cx="839888" cy="626411"/>
          </a:xfrm>
        </p:grpSpPr>
        <p:sp>
          <p:nvSpPr>
            <p:cNvPr name="Freeform 4" id="4"/>
            <p:cNvSpPr/>
            <p:nvPr/>
          </p:nvSpPr>
          <p:spPr>
            <a:xfrm flipH="false" flipV="false" rot="0">
              <a:off x="0" y="0"/>
              <a:ext cx="839888" cy="626411"/>
            </a:xfrm>
            <a:custGeom>
              <a:avLst/>
              <a:gdLst/>
              <a:ahLst/>
              <a:cxnLst/>
              <a:rect r="r" b="b" t="t" l="l"/>
              <a:pathLst>
                <a:path h="626411" w="839888">
                  <a:moveTo>
                    <a:pt x="0" y="0"/>
                  </a:moveTo>
                  <a:lnTo>
                    <a:pt x="839888" y="0"/>
                  </a:lnTo>
                  <a:lnTo>
                    <a:pt x="839888" y="626411"/>
                  </a:lnTo>
                  <a:lnTo>
                    <a:pt x="0" y="626411"/>
                  </a:lnTo>
                  <a:close/>
                </a:path>
              </a:pathLst>
            </a:custGeom>
            <a:blipFill>
              <a:blip r:embed="rId3"/>
              <a:stretch>
                <a:fillRect l="-2155" t="0" r="-2155" b="0"/>
              </a:stretch>
            </a:blipFill>
          </p:spPr>
        </p:sp>
      </p:grpSp>
      <p:grpSp>
        <p:nvGrpSpPr>
          <p:cNvPr name="Group 5" id="5"/>
          <p:cNvGrpSpPr/>
          <p:nvPr/>
        </p:nvGrpSpPr>
        <p:grpSpPr>
          <a:xfrm rot="0">
            <a:off x="8929237" y="127970"/>
            <a:ext cx="9358763" cy="6624910"/>
            <a:chOff x="0" y="0"/>
            <a:chExt cx="947544" cy="670750"/>
          </a:xfrm>
        </p:grpSpPr>
        <p:sp>
          <p:nvSpPr>
            <p:cNvPr name="Freeform 6" id="6"/>
            <p:cNvSpPr/>
            <p:nvPr/>
          </p:nvSpPr>
          <p:spPr>
            <a:xfrm flipH="false" flipV="false" rot="0">
              <a:off x="0" y="0"/>
              <a:ext cx="947544" cy="670750"/>
            </a:xfrm>
            <a:custGeom>
              <a:avLst/>
              <a:gdLst/>
              <a:ahLst/>
              <a:cxnLst/>
              <a:rect r="r" b="b" t="t" l="l"/>
              <a:pathLst>
                <a:path h="670750" w="947544">
                  <a:moveTo>
                    <a:pt x="0" y="0"/>
                  </a:moveTo>
                  <a:lnTo>
                    <a:pt x="947544" y="0"/>
                  </a:lnTo>
                  <a:lnTo>
                    <a:pt x="947544" y="670750"/>
                  </a:lnTo>
                  <a:lnTo>
                    <a:pt x="0" y="670750"/>
                  </a:lnTo>
                  <a:close/>
                </a:path>
              </a:pathLst>
            </a:custGeom>
            <a:blipFill>
              <a:blip r:embed="rId4"/>
              <a:stretch>
                <a:fillRect l="0" t="-502" r="0" b="-502"/>
              </a:stretch>
            </a:blipFill>
          </p:spPr>
        </p:sp>
      </p:grpSp>
      <p:sp>
        <p:nvSpPr>
          <p:cNvPr name="TextBox 7" id="7"/>
          <p:cNvSpPr txBox="true"/>
          <p:nvPr/>
        </p:nvSpPr>
        <p:spPr>
          <a:xfrm rot="0">
            <a:off x="0" y="7274159"/>
            <a:ext cx="8099178" cy="2747930"/>
          </a:xfrm>
          <a:prstGeom prst="rect">
            <a:avLst/>
          </a:prstGeom>
        </p:spPr>
        <p:txBody>
          <a:bodyPr anchor="t" rtlCol="false" tIns="0" lIns="0" bIns="0" rIns="0">
            <a:spAutoFit/>
          </a:bodyPr>
          <a:lstStyle/>
          <a:p>
            <a:pPr algn="l">
              <a:lnSpc>
                <a:spcPts val="11065"/>
              </a:lnSpc>
            </a:pPr>
            <a:r>
              <a:rPr lang="en-US" sz="7903">
                <a:solidFill>
                  <a:srgbClr val="2A441A"/>
                </a:solidFill>
                <a:latin typeface="Anton"/>
                <a:ea typeface="Anton"/>
                <a:cs typeface="Anton"/>
                <a:sym typeface="Anton"/>
              </a:rPr>
              <a:t>CROSSES AND PASSES</a:t>
            </a:r>
          </a:p>
          <a:p>
            <a:pPr algn="l">
              <a:lnSpc>
                <a:spcPts val="11065"/>
              </a:lnSpc>
              <a:spcBef>
                <a:spcPct val="0"/>
              </a:spcBef>
            </a:pPr>
          </a:p>
        </p:txBody>
      </p:sp>
      <p:sp>
        <p:nvSpPr>
          <p:cNvPr name="TextBox 8" id="8"/>
          <p:cNvSpPr txBox="true"/>
          <p:nvPr/>
        </p:nvSpPr>
        <p:spPr>
          <a:xfrm rot="0">
            <a:off x="8099178" y="6695731"/>
            <a:ext cx="10062715" cy="3106260"/>
          </a:xfrm>
          <a:prstGeom prst="rect">
            <a:avLst/>
          </a:prstGeom>
        </p:spPr>
        <p:txBody>
          <a:bodyPr anchor="t" rtlCol="false" tIns="0" lIns="0" bIns="0" rIns="0">
            <a:spAutoFit/>
          </a:bodyPr>
          <a:lstStyle/>
          <a:p>
            <a:pPr algn="just">
              <a:lnSpc>
                <a:spcPts val="3566"/>
              </a:lnSpc>
            </a:pPr>
            <a:r>
              <a:rPr lang="en-US" sz="2547">
                <a:solidFill>
                  <a:srgbClr val="000000"/>
                </a:solidFill>
                <a:latin typeface="Arimo"/>
                <a:ea typeface="Arimo"/>
                <a:cs typeface="Arimo"/>
                <a:sym typeface="Arimo"/>
              </a:rPr>
              <a:t>Exploring further, we can not only observe where the crosses and passes took place that led to goals but also where to.</a:t>
            </a:r>
          </a:p>
          <a:p>
            <a:pPr algn="just">
              <a:lnSpc>
                <a:spcPts val="3566"/>
              </a:lnSpc>
            </a:pPr>
          </a:p>
          <a:p>
            <a:pPr algn="just">
              <a:lnSpc>
                <a:spcPts val="3566"/>
              </a:lnSpc>
            </a:pPr>
            <a:r>
              <a:rPr lang="en-US" sz="2547">
                <a:solidFill>
                  <a:srgbClr val="000000"/>
                </a:solidFill>
                <a:latin typeface="Arimo"/>
                <a:ea typeface="Arimo"/>
                <a:cs typeface="Arimo"/>
                <a:sym typeface="Arimo"/>
              </a:rPr>
              <a:t>All the crosses from the wings have been into the D, while passes that have led to goals have been from all around the opponent’s side.</a:t>
            </a:r>
          </a:p>
          <a:p>
            <a:pPr algn="just">
              <a:lnSpc>
                <a:spcPts val="3566"/>
              </a:lnSpc>
            </a:pPr>
            <a:r>
              <a:rPr lang="en-US" sz="2547">
                <a:solidFill>
                  <a:srgbClr val="000000"/>
                </a:solidFill>
                <a:latin typeface="Arimo"/>
                <a:ea typeface="Arimo"/>
                <a:cs typeface="Arimo"/>
                <a:sym typeface="Arimo"/>
              </a:rPr>
              <a:t>We can also observe more crosses from the left wings.</a:t>
            </a:r>
          </a:p>
          <a:p>
            <a:pPr algn="just">
              <a:lnSpc>
                <a:spcPts val="3566"/>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333" t="0" r="-33333" b="0"/>
            </a:stretch>
          </a:blipFill>
        </p:spPr>
      </p:sp>
      <p:grpSp>
        <p:nvGrpSpPr>
          <p:cNvPr name="Group 3" id="3"/>
          <p:cNvGrpSpPr/>
          <p:nvPr/>
        </p:nvGrpSpPr>
        <p:grpSpPr>
          <a:xfrm rot="0">
            <a:off x="0" y="483112"/>
            <a:ext cx="12298195" cy="8775188"/>
            <a:chOff x="0" y="0"/>
            <a:chExt cx="1905312" cy="1359506"/>
          </a:xfrm>
        </p:grpSpPr>
        <p:sp>
          <p:nvSpPr>
            <p:cNvPr name="Freeform 4" id="4"/>
            <p:cNvSpPr/>
            <p:nvPr/>
          </p:nvSpPr>
          <p:spPr>
            <a:xfrm flipH="false" flipV="false" rot="0">
              <a:off x="0" y="0"/>
              <a:ext cx="1905312" cy="1359506"/>
            </a:xfrm>
            <a:custGeom>
              <a:avLst/>
              <a:gdLst/>
              <a:ahLst/>
              <a:cxnLst/>
              <a:rect r="r" b="b" t="t" l="l"/>
              <a:pathLst>
                <a:path h="1359506" w="1905312">
                  <a:moveTo>
                    <a:pt x="0" y="0"/>
                  </a:moveTo>
                  <a:lnTo>
                    <a:pt x="1905312" y="0"/>
                  </a:lnTo>
                  <a:lnTo>
                    <a:pt x="1905312" y="1359506"/>
                  </a:lnTo>
                  <a:lnTo>
                    <a:pt x="0" y="1359506"/>
                  </a:lnTo>
                  <a:close/>
                </a:path>
              </a:pathLst>
            </a:custGeom>
            <a:blipFill>
              <a:blip r:embed="rId3"/>
              <a:stretch>
                <a:fillRect l="0" t="-190" r="0" b="-190"/>
              </a:stretch>
            </a:blipFill>
          </p:spPr>
        </p:sp>
      </p:grpSp>
      <p:sp>
        <p:nvSpPr>
          <p:cNvPr name="TextBox 5" id="5"/>
          <p:cNvSpPr txBox="true"/>
          <p:nvPr/>
        </p:nvSpPr>
        <p:spPr>
          <a:xfrm rot="0">
            <a:off x="12002870" y="4527133"/>
            <a:ext cx="6004315" cy="3649932"/>
          </a:xfrm>
          <a:prstGeom prst="rect">
            <a:avLst/>
          </a:prstGeom>
        </p:spPr>
        <p:txBody>
          <a:bodyPr anchor="t" rtlCol="false" tIns="0" lIns="0" bIns="0" rIns="0">
            <a:spAutoFit/>
          </a:bodyPr>
          <a:lstStyle/>
          <a:p>
            <a:pPr algn="just">
              <a:lnSpc>
                <a:spcPts val="2660"/>
              </a:lnSpc>
            </a:pPr>
            <a:r>
              <a:rPr lang="en-US" sz="1900">
                <a:solidFill>
                  <a:srgbClr val="000000"/>
                </a:solidFill>
                <a:latin typeface="Arimo"/>
                <a:ea typeface="Arimo"/>
                <a:cs typeface="Arimo"/>
                <a:sym typeface="Arimo"/>
              </a:rPr>
              <a:t>It’s not just the goal scorers that are important for the team, but also the playmakers. Alejandro Garcia had created the most number of chances for Leverkusen. Here we have calculated chances as the sum of goal assists and shot assists.</a:t>
            </a:r>
          </a:p>
          <a:p>
            <a:pPr algn="just">
              <a:lnSpc>
                <a:spcPts val="2660"/>
              </a:lnSpc>
            </a:pPr>
          </a:p>
          <a:p>
            <a:pPr algn="just">
              <a:lnSpc>
                <a:spcPts val="2660"/>
              </a:lnSpc>
            </a:pPr>
            <a:r>
              <a:rPr lang="en-US" sz="1900">
                <a:solidFill>
                  <a:srgbClr val="000000"/>
                </a:solidFill>
                <a:latin typeface="Arimo"/>
                <a:ea typeface="Arimo"/>
                <a:cs typeface="Arimo"/>
                <a:sym typeface="Arimo"/>
              </a:rPr>
              <a:t>in the previous slide, we saw that the left flank delivered more crosses than the right, thanks to Garcia.</a:t>
            </a:r>
          </a:p>
          <a:p>
            <a:pPr algn="just">
              <a:lnSpc>
                <a:spcPts val="2660"/>
              </a:lnSpc>
            </a:pPr>
          </a:p>
          <a:p>
            <a:pPr algn="just">
              <a:lnSpc>
                <a:spcPts val="2660"/>
              </a:lnSpc>
            </a:pPr>
            <a:r>
              <a:rPr lang="en-US" sz="1900">
                <a:solidFill>
                  <a:srgbClr val="000000"/>
                </a:solidFill>
                <a:latin typeface="Arimo"/>
                <a:ea typeface="Arimo"/>
                <a:cs typeface="Arimo"/>
                <a:sym typeface="Arimo"/>
              </a:rPr>
              <a:t>You can also notice that a few blue dots on the corners which means Garcia was also good at taking corners.</a:t>
            </a:r>
          </a:p>
        </p:txBody>
      </p:sp>
      <p:sp>
        <p:nvSpPr>
          <p:cNvPr name="TextBox 6" id="6"/>
          <p:cNvSpPr txBox="true"/>
          <p:nvPr/>
        </p:nvSpPr>
        <p:spPr>
          <a:xfrm rot="0">
            <a:off x="12002870" y="-152400"/>
            <a:ext cx="6467665" cy="5544220"/>
          </a:xfrm>
          <a:prstGeom prst="rect">
            <a:avLst/>
          </a:prstGeom>
        </p:spPr>
        <p:txBody>
          <a:bodyPr anchor="t" rtlCol="false" tIns="0" lIns="0" bIns="0" rIns="0">
            <a:spAutoFit/>
          </a:bodyPr>
          <a:lstStyle/>
          <a:p>
            <a:pPr algn="l">
              <a:lnSpc>
                <a:spcPts val="11065"/>
              </a:lnSpc>
            </a:pPr>
            <a:r>
              <a:rPr lang="en-US" sz="7903">
                <a:solidFill>
                  <a:srgbClr val="2A441A"/>
                </a:solidFill>
                <a:latin typeface="Anton"/>
                <a:ea typeface="Anton"/>
                <a:cs typeface="Anton"/>
                <a:sym typeface="Anton"/>
              </a:rPr>
              <a:t>WHICH PLAYER CREATED MOST CHANCES?</a:t>
            </a:r>
          </a:p>
          <a:p>
            <a:pPr algn="l">
              <a:lnSpc>
                <a:spcPts val="11065"/>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601842" y="3391117"/>
            <a:ext cx="7084317" cy="2388234"/>
          </a:xfrm>
          <a:prstGeom prst="rect">
            <a:avLst/>
          </a:prstGeom>
        </p:spPr>
        <p:txBody>
          <a:bodyPr anchor="t" rtlCol="false" tIns="0" lIns="0" bIns="0" rIns="0">
            <a:spAutoFit/>
          </a:bodyPr>
          <a:lstStyle/>
          <a:p>
            <a:pPr algn="ctr">
              <a:lnSpc>
                <a:spcPts val="19572"/>
              </a:lnSpc>
              <a:spcBef>
                <a:spcPct val="0"/>
              </a:spcBef>
            </a:pPr>
            <a:r>
              <a:rPr lang="en-US" sz="13980">
                <a:solidFill>
                  <a:srgbClr val="000000"/>
                </a:solidFill>
                <a:latin typeface="Anton"/>
                <a:ea typeface="Anton"/>
                <a:cs typeface="Anton"/>
                <a:sym typeface="Anto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DAGdKTOoPRU</dc:identifier>
  <dcterms:modified xsi:type="dcterms:W3CDTF">2011-08-01T06:04:30Z</dcterms:modified>
  <cp:revision>1</cp:revision>
  <dc:title>Green and White Modern Soccer Presentation</dc:title>
</cp:coreProperties>
</file>